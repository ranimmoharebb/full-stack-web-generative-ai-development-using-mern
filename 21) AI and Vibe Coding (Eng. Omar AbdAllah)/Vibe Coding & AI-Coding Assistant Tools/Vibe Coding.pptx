
<file path=[Content_Types].xml><?xml version="1.0" encoding="utf-8"?>
<Types xmlns="http://schemas.openxmlformats.org/package/2006/content-types">
  <Default Extension="emf" ContentType="image/x-emf"/>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Masters/slideMaster1.xml" ContentType="application/vnd.openxmlformats-officedocument.presentationml.slideMaster+xml"/>
  <Override PartName="/ppt/slideLayouts/slideLayout6.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app.xml" ContentType="application/vnd.openxmlformats-officedocument.extended-properties+xml"/>
  <Override PartName="/docProps/custom.xml" ContentType="application/vnd.openxmlformats-officedocument.custom-properties+xml"/>
  <Override PartName="/docProps/core.xml" ContentType="application/vnd.openxmlformats-package.core-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24"/>
  </p:notesMasterIdLst>
  <p:sldIdLst>
    <p:sldId id="256" r:id="rId2"/>
    <p:sldId id="1015" r:id="rId3"/>
    <p:sldId id="1016" r:id="rId4"/>
    <p:sldId id="1009" r:id="rId5"/>
    <p:sldId id="1017" r:id="rId6"/>
    <p:sldId id="1018" r:id="rId7"/>
    <p:sldId id="1019" r:id="rId8"/>
    <p:sldId id="1020" r:id="rId9"/>
    <p:sldId id="1033" r:id="rId10"/>
    <p:sldId id="1021" r:id="rId11"/>
    <p:sldId id="1022" r:id="rId12"/>
    <p:sldId id="1023" r:id="rId13"/>
    <p:sldId id="995" r:id="rId14"/>
    <p:sldId id="1025" r:id="rId15"/>
    <p:sldId id="1026" r:id="rId16"/>
    <p:sldId id="1027" r:id="rId17"/>
    <p:sldId id="1028" r:id="rId18"/>
    <p:sldId id="1030" r:id="rId19"/>
    <p:sldId id="1029" r:id="rId20"/>
    <p:sldId id="1031" r:id="rId21"/>
    <p:sldId id="1032" r:id="rId22"/>
    <p:sldId id="264" r:id="rId23"/>
  </p:sldIdLst>
  <p:sldSz cx="12192000" cy="6858000"/>
  <p:notesSz cx="6858000" cy="9144000"/>
  <p:embeddedFontLst>
    <p:embeddedFont>
      <p:font typeface="Candara bold" panose="020E0702030303020204" pitchFamily="34" charset="0"/>
      <p:bold r:id="rId25"/>
    </p:embeddedFont>
    <p:embeddedFont>
      <p:font typeface="Century Gothic" panose="020B0502020202020204" pitchFamily="34" charset="0"/>
      <p:regular r:id="rId26"/>
      <p:bold r:id="rId27"/>
      <p:italic r:id="rId28"/>
      <p:boldItalic r:id="rId29"/>
    </p:embeddedFont>
    <p:embeddedFont>
      <p:font typeface="Roboto Condensed" panose="02000000000000000000" pitchFamily="2" charset="0"/>
      <p:regular r:id="rId30"/>
      <p:bold r:id="rId31"/>
      <p:italic r:id="rId32"/>
      <p:boldItalic r:id="rId33"/>
    </p:embeddedFont>
    <p:embeddedFont>
      <p:font typeface="Segoe UI" panose="020B0502040204020203" pitchFamily="34" charset="0"/>
      <p:regular r:id="rId34"/>
      <p:bold r:id="rId35"/>
      <p:italic r:id="rId36"/>
      <p:boldItalic r:id="rId3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DC2"/>
    <a:srgbClr val="D9D9D9"/>
    <a:srgbClr val="D60000"/>
    <a:srgbClr val="B40000"/>
    <a:srgbClr val="E7E6E6"/>
    <a:srgbClr val="0094E6"/>
    <a:srgbClr val="FFFFFF"/>
    <a:srgbClr val="FFC000"/>
    <a:srgbClr val="44546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3416" autoAdjust="0"/>
  </p:normalViewPr>
  <p:slideViewPr>
    <p:cSldViewPr snapToGrid="0">
      <p:cViewPr varScale="1">
        <p:scale>
          <a:sx n="77" d="100"/>
          <a:sy n="77" d="100"/>
        </p:scale>
        <p:origin x="912" y="62"/>
      </p:cViewPr>
      <p:guideLst/>
    </p:cSldViewPr>
  </p:slideViewPr>
  <p:notesTextViewPr>
    <p:cViewPr>
      <p:scale>
        <a:sx n="1" d="1"/>
        <a:sy n="1" d="1"/>
      </p:scale>
      <p:origin x="0" y="0"/>
    </p:cViewPr>
  </p:notesTextViewPr>
  <p:notesViewPr>
    <p:cSldViewPr snapToGrid="0">
      <p:cViewPr varScale="1">
        <p:scale>
          <a:sx n="65" d="100"/>
          <a:sy n="65" d="100"/>
        </p:scale>
        <p:origin x="3154" y="38"/>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2.fntdata"/><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font" Target="fonts/font10.fntdata"/><Relationship Id="rId42" Type="http://schemas.openxmlformats.org/officeDocument/2006/relationships/customXml" Target="../customXml/item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5.fntdata"/><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32" Type="http://schemas.openxmlformats.org/officeDocument/2006/relationships/font" Target="fonts/font8.fntdata"/><Relationship Id="rId37" Type="http://schemas.openxmlformats.org/officeDocument/2006/relationships/font" Target="fonts/font13.fntdata"/><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4.fntdata"/><Relationship Id="rId36" Type="http://schemas.openxmlformats.org/officeDocument/2006/relationships/font" Target="fonts/font12.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7.fntdata"/><Relationship Id="rId44" Type="http://schemas.openxmlformats.org/officeDocument/2006/relationships/customXml" Target="../customXml/item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3.fntdata"/><Relationship Id="rId30" Type="http://schemas.openxmlformats.org/officeDocument/2006/relationships/font" Target="fonts/font6.fntdata"/><Relationship Id="rId35" Type="http://schemas.openxmlformats.org/officeDocument/2006/relationships/font" Target="fonts/font11.fntdata"/><Relationship Id="rId43" Type="http://schemas.openxmlformats.org/officeDocument/2006/relationships/customXml" Target="../customXml/item2.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1.fntdata"/><Relationship Id="rId33" Type="http://schemas.openxmlformats.org/officeDocument/2006/relationships/font" Target="fonts/font9.fntdata"/><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D4508E8-B06A-44BD-8625-0B0A2071F7C2}" type="datetimeFigureOut">
              <a:rPr lang="en-US" smtClean="0"/>
              <a:t>29-Oct-25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81D9D3A-0C98-4CF1-B084-F26022EA5D67}" type="slidenum">
              <a:rPr lang="en-US" smtClean="0"/>
              <a:t>‹#›</a:t>
            </a:fld>
            <a:endParaRPr lang="en-US"/>
          </a:p>
        </p:txBody>
      </p:sp>
    </p:spTree>
    <p:extLst>
      <p:ext uri="{BB962C8B-B14F-4D97-AF65-F5344CB8AC3E}">
        <p14:creationId xmlns:p14="http://schemas.microsoft.com/office/powerpoint/2010/main" val="5421148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1D9D3A-0C98-4CF1-B084-F26022EA5D67}" type="slidenum">
              <a:rPr lang="en-US" smtClean="0"/>
              <a:t>3</a:t>
            </a:fld>
            <a:endParaRPr lang="en-US"/>
          </a:p>
        </p:txBody>
      </p:sp>
    </p:spTree>
    <p:extLst>
      <p:ext uri="{BB962C8B-B14F-4D97-AF65-F5344CB8AC3E}">
        <p14:creationId xmlns:p14="http://schemas.microsoft.com/office/powerpoint/2010/main" val="284564432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2CF7E1-D0C7-FAD1-4B90-26A0C998451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D9A5A45-84B3-5C47-8672-72C8DF9A976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559456D-2A9E-2B2A-E50B-3376A972406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BFA0C7A-6DAE-A767-619A-E4763FB08CAD}"/>
              </a:ext>
            </a:extLst>
          </p:cNvPr>
          <p:cNvSpPr>
            <a:spLocks noGrp="1"/>
          </p:cNvSpPr>
          <p:nvPr>
            <p:ph type="sldNum" sz="quarter" idx="5"/>
          </p:nvPr>
        </p:nvSpPr>
        <p:spPr/>
        <p:txBody>
          <a:bodyPr/>
          <a:lstStyle/>
          <a:p>
            <a:fld id="{A81D9D3A-0C98-4CF1-B084-F26022EA5D67}" type="slidenum">
              <a:rPr lang="en-US" smtClean="0"/>
              <a:t>5</a:t>
            </a:fld>
            <a:endParaRPr lang="en-US"/>
          </a:p>
        </p:txBody>
      </p:sp>
    </p:spTree>
    <p:extLst>
      <p:ext uri="{BB962C8B-B14F-4D97-AF65-F5344CB8AC3E}">
        <p14:creationId xmlns:p14="http://schemas.microsoft.com/office/powerpoint/2010/main" val="38568613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249B3D-07D4-6798-EA4C-CA0A8E11D5B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B89DDEC-AE33-F032-5B0C-D457DF84B5A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A5D8DFC-F1F5-E61C-16DB-1986C0D7165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24D2196-3A6D-FEAC-2F3A-A10EF1117722}"/>
              </a:ext>
            </a:extLst>
          </p:cNvPr>
          <p:cNvSpPr>
            <a:spLocks noGrp="1"/>
          </p:cNvSpPr>
          <p:nvPr>
            <p:ph type="sldNum" sz="quarter" idx="5"/>
          </p:nvPr>
        </p:nvSpPr>
        <p:spPr/>
        <p:txBody>
          <a:bodyPr/>
          <a:lstStyle/>
          <a:p>
            <a:fld id="{A81D9D3A-0C98-4CF1-B084-F26022EA5D67}" type="slidenum">
              <a:rPr lang="en-US" smtClean="0"/>
              <a:t>6</a:t>
            </a:fld>
            <a:endParaRPr lang="en-US"/>
          </a:p>
        </p:txBody>
      </p:sp>
    </p:spTree>
    <p:extLst>
      <p:ext uri="{BB962C8B-B14F-4D97-AF65-F5344CB8AC3E}">
        <p14:creationId xmlns:p14="http://schemas.microsoft.com/office/powerpoint/2010/main" val="190601254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986253-370F-E7C7-69DD-62DB250723B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4595FC-1DAB-63E8-2C30-A3962CAEA7C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99E97CF-1437-54A8-D1D2-1D41290BEF6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660E135-0BBE-A9DC-92B7-E87F35547240}"/>
              </a:ext>
            </a:extLst>
          </p:cNvPr>
          <p:cNvSpPr>
            <a:spLocks noGrp="1"/>
          </p:cNvSpPr>
          <p:nvPr>
            <p:ph type="sldNum" sz="quarter" idx="5"/>
          </p:nvPr>
        </p:nvSpPr>
        <p:spPr/>
        <p:txBody>
          <a:bodyPr/>
          <a:lstStyle/>
          <a:p>
            <a:fld id="{A81D9D3A-0C98-4CF1-B084-F26022EA5D67}" type="slidenum">
              <a:rPr lang="en-US" smtClean="0"/>
              <a:t>7</a:t>
            </a:fld>
            <a:endParaRPr lang="en-US"/>
          </a:p>
        </p:txBody>
      </p:sp>
    </p:spTree>
    <p:extLst>
      <p:ext uri="{BB962C8B-B14F-4D97-AF65-F5344CB8AC3E}">
        <p14:creationId xmlns:p14="http://schemas.microsoft.com/office/powerpoint/2010/main" val="296032386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63CA30-2B88-AF86-F6A7-67A5974641C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2047307-3EE5-005B-6D9A-DD79B9D4BCB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FE891CA-C734-8207-E6AA-2AFC3F8ED2C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3BABC0E-A258-86F5-0404-73BC99773AA1}"/>
              </a:ext>
            </a:extLst>
          </p:cNvPr>
          <p:cNvSpPr>
            <a:spLocks noGrp="1"/>
          </p:cNvSpPr>
          <p:nvPr>
            <p:ph type="sldNum" sz="quarter" idx="5"/>
          </p:nvPr>
        </p:nvSpPr>
        <p:spPr/>
        <p:txBody>
          <a:bodyPr/>
          <a:lstStyle/>
          <a:p>
            <a:fld id="{A81D9D3A-0C98-4CF1-B084-F26022EA5D67}" type="slidenum">
              <a:rPr lang="en-US" smtClean="0"/>
              <a:t>8</a:t>
            </a:fld>
            <a:endParaRPr lang="en-US"/>
          </a:p>
        </p:txBody>
      </p:sp>
    </p:spTree>
    <p:extLst>
      <p:ext uri="{BB962C8B-B14F-4D97-AF65-F5344CB8AC3E}">
        <p14:creationId xmlns:p14="http://schemas.microsoft.com/office/powerpoint/2010/main" val="35271138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7A0785-49CE-EF70-1765-22290FFC4F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2317CB6-1EFF-D2B8-EEA2-BD9DFD21245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7637F60-CAC6-9B62-0A2F-8B193E782B8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F10A9E5-F4FC-5678-C71C-4874061C2A17}"/>
              </a:ext>
            </a:extLst>
          </p:cNvPr>
          <p:cNvSpPr>
            <a:spLocks noGrp="1"/>
          </p:cNvSpPr>
          <p:nvPr>
            <p:ph type="sldNum" sz="quarter" idx="5"/>
          </p:nvPr>
        </p:nvSpPr>
        <p:spPr/>
        <p:txBody>
          <a:bodyPr/>
          <a:lstStyle/>
          <a:p>
            <a:fld id="{A81D9D3A-0C98-4CF1-B084-F26022EA5D67}" type="slidenum">
              <a:rPr lang="en-US" smtClean="0"/>
              <a:t>11</a:t>
            </a:fld>
            <a:endParaRPr lang="en-US"/>
          </a:p>
        </p:txBody>
      </p:sp>
    </p:spTree>
    <p:extLst>
      <p:ext uri="{BB962C8B-B14F-4D97-AF65-F5344CB8AC3E}">
        <p14:creationId xmlns:p14="http://schemas.microsoft.com/office/powerpoint/2010/main" val="162261892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4B4A6D-61DF-097E-E131-FC82FE642E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B910D1-EABE-D653-43E8-56F3627985F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27115A1-D465-41BD-805C-3CD29BACFA4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1E90032-7A83-6F93-C3C7-F761B26B3318}"/>
              </a:ext>
            </a:extLst>
          </p:cNvPr>
          <p:cNvSpPr>
            <a:spLocks noGrp="1"/>
          </p:cNvSpPr>
          <p:nvPr>
            <p:ph type="sldNum" sz="quarter" idx="5"/>
          </p:nvPr>
        </p:nvSpPr>
        <p:spPr/>
        <p:txBody>
          <a:bodyPr/>
          <a:lstStyle/>
          <a:p>
            <a:fld id="{A81D9D3A-0C98-4CF1-B084-F26022EA5D67}" type="slidenum">
              <a:rPr lang="en-US" smtClean="0"/>
              <a:t>12</a:t>
            </a:fld>
            <a:endParaRPr lang="en-US"/>
          </a:p>
        </p:txBody>
      </p:sp>
    </p:spTree>
    <p:extLst>
      <p:ext uri="{BB962C8B-B14F-4D97-AF65-F5344CB8AC3E}">
        <p14:creationId xmlns:p14="http://schemas.microsoft.com/office/powerpoint/2010/main" val="71492951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1D9D3A-0C98-4CF1-B084-F26022EA5D67}" type="slidenum">
              <a:rPr lang="en-US" smtClean="0"/>
              <a:t>13</a:t>
            </a:fld>
            <a:endParaRPr lang="en-US"/>
          </a:p>
        </p:txBody>
      </p:sp>
    </p:spTree>
    <p:extLst>
      <p:ext uri="{BB962C8B-B14F-4D97-AF65-F5344CB8AC3E}">
        <p14:creationId xmlns:p14="http://schemas.microsoft.com/office/powerpoint/2010/main" val="89425005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154D3B-D8AF-2533-70BA-1230498753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5CD249A-9E57-1D65-3DA0-B6F4496A7A2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FC76AF4-009A-87B2-22CB-979CC9C5657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FA2D91B-CF54-D2D3-38B7-F365206E797C}"/>
              </a:ext>
            </a:extLst>
          </p:cNvPr>
          <p:cNvSpPr>
            <a:spLocks noGrp="1"/>
          </p:cNvSpPr>
          <p:nvPr>
            <p:ph type="sldNum" sz="quarter" idx="5"/>
          </p:nvPr>
        </p:nvSpPr>
        <p:spPr/>
        <p:txBody>
          <a:bodyPr/>
          <a:lstStyle/>
          <a:p>
            <a:fld id="{A81D9D3A-0C98-4CF1-B084-F26022EA5D67}" type="slidenum">
              <a:rPr lang="en-US" smtClean="0"/>
              <a:t>14</a:t>
            </a:fld>
            <a:endParaRPr lang="en-US"/>
          </a:p>
        </p:txBody>
      </p:sp>
    </p:spTree>
    <p:extLst>
      <p:ext uri="{BB962C8B-B14F-4D97-AF65-F5344CB8AC3E}">
        <p14:creationId xmlns:p14="http://schemas.microsoft.com/office/powerpoint/2010/main" val="261834345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955BBC-FAB5-8151-D5AE-6A01A38BA3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DB97FE7-D260-0F99-EA6F-CA38DBDAEE3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CB05DE0-6F91-F067-1F77-E08B9D4096E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0E09064-D867-3846-6928-22D331A65D51}"/>
              </a:ext>
            </a:extLst>
          </p:cNvPr>
          <p:cNvSpPr>
            <a:spLocks noGrp="1"/>
          </p:cNvSpPr>
          <p:nvPr>
            <p:ph type="sldNum" sz="quarter" idx="5"/>
          </p:nvPr>
        </p:nvSpPr>
        <p:spPr/>
        <p:txBody>
          <a:bodyPr/>
          <a:lstStyle/>
          <a:p>
            <a:fld id="{A81D9D3A-0C98-4CF1-B084-F26022EA5D67}" type="slidenum">
              <a:rPr lang="en-US" smtClean="0"/>
              <a:t>15</a:t>
            </a:fld>
            <a:endParaRPr lang="en-US"/>
          </a:p>
        </p:txBody>
      </p:sp>
    </p:spTree>
    <p:extLst>
      <p:ext uri="{BB962C8B-B14F-4D97-AF65-F5344CB8AC3E}">
        <p14:creationId xmlns:p14="http://schemas.microsoft.com/office/powerpoint/2010/main" val="32535877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C89E8B-A507-FF66-7E0C-D67C16108FA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3719CE9-FC86-73AA-AB00-B25D8950138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253DF6A-9553-110B-6F2E-A8EBD612B91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F7AC2AB-870E-4BE9-184A-90A264496975}"/>
              </a:ext>
            </a:extLst>
          </p:cNvPr>
          <p:cNvSpPr>
            <a:spLocks noGrp="1"/>
          </p:cNvSpPr>
          <p:nvPr>
            <p:ph type="sldNum" sz="quarter" idx="5"/>
          </p:nvPr>
        </p:nvSpPr>
        <p:spPr/>
        <p:txBody>
          <a:bodyPr/>
          <a:lstStyle/>
          <a:p>
            <a:fld id="{A81D9D3A-0C98-4CF1-B084-F26022EA5D67}" type="slidenum">
              <a:rPr lang="en-US" smtClean="0"/>
              <a:t>16</a:t>
            </a:fld>
            <a:endParaRPr lang="en-US"/>
          </a:p>
        </p:txBody>
      </p:sp>
    </p:spTree>
    <p:extLst>
      <p:ext uri="{BB962C8B-B14F-4D97-AF65-F5344CB8AC3E}">
        <p14:creationId xmlns:p14="http://schemas.microsoft.com/office/powerpoint/2010/main" val="343811806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5D1713-EE7E-054A-834C-0A26D90B9ED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62D2B6-3E40-DC79-34D1-19A2E3F065E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9AE18B3-5F4B-0629-F461-D7135EF8C64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D83E66A-6FF1-5A6D-1D61-66A25FE61B34}"/>
              </a:ext>
            </a:extLst>
          </p:cNvPr>
          <p:cNvSpPr>
            <a:spLocks noGrp="1"/>
          </p:cNvSpPr>
          <p:nvPr>
            <p:ph type="sldNum" sz="quarter" idx="5"/>
          </p:nvPr>
        </p:nvSpPr>
        <p:spPr/>
        <p:txBody>
          <a:bodyPr/>
          <a:lstStyle/>
          <a:p>
            <a:fld id="{A81D9D3A-0C98-4CF1-B084-F26022EA5D67}" type="slidenum">
              <a:rPr lang="en-US" smtClean="0"/>
              <a:t>17</a:t>
            </a:fld>
            <a:endParaRPr lang="en-US"/>
          </a:p>
        </p:txBody>
      </p:sp>
    </p:spTree>
    <p:extLst>
      <p:ext uri="{BB962C8B-B14F-4D97-AF65-F5344CB8AC3E}">
        <p14:creationId xmlns:p14="http://schemas.microsoft.com/office/powerpoint/2010/main" val="375787230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19A33E-A324-ED64-262B-896DF92F40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7F3610-61F1-EA4F-E887-AB56823CC7C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2FEFB5B-E8F4-B153-110C-F338C967750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3EFEB39-A3E3-8FAA-A087-0675FB42D351}"/>
              </a:ext>
            </a:extLst>
          </p:cNvPr>
          <p:cNvSpPr>
            <a:spLocks noGrp="1"/>
          </p:cNvSpPr>
          <p:nvPr>
            <p:ph type="sldNum" sz="quarter" idx="5"/>
          </p:nvPr>
        </p:nvSpPr>
        <p:spPr/>
        <p:txBody>
          <a:bodyPr/>
          <a:lstStyle/>
          <a:p>
            <a:fld id="{A81D9D3A-0C98-4CF1-B084-F26022EA5D67}" type="slidenum">
              <a:rPr lang="en-US" smtClean="0"/>
              <a:t>18</a:t>
            </a:fld>
            <a:endParaRPr lang="en-US"/>
          </a:p>
        </p:txBody>
      </p:sp>
    </p:spTree>
    <p:extLst>
      <p:ext uri="{BB962C8B-B14F-4D97-AF65-F5344CB8AC3E}">
        <p14:creationId xmlns:p14="http://schemas.microsoft.com/office/powerpoint/2010/main" val="235723001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06D97D-F633-C489-E9B9-E6124C5603E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5A4FB33-9776-E3F4-F887-5696ECA589C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39340B1-FA7F-7056-CA82-3905B3BCC42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632744A-497F-B8C8-55D5-2F0FA493144E}"/>
              </a:ext>
            </a:extLst>
          </p:cNvPr>
          <p:cNvSpPr>
            <a:spLocks noGrp="1"/>
          </p:cNvSpPr>
          <p:nvPr>
            <p:ph type="sldNum" sz="quarter" idx="5"/>
          </p:nvPr>
        </p:nvSpPr>
        <p:spPr/>
        <p:txBody>
          <a:bodyPr/>
          <a:lstStyle/>
          <a:p>
            <a:fld id="{A81D9D3A-0C98-4CF1-B084-F26022EA5D67}" type="slidenum">
              <a:rPr lang="en-US" smtClean="0"/>
              <a:t>19</a:t>
            </a:fld>
            <a:endParaRPr lang="en-US"/>
          </a:p>
        </p:txBody>
      </p:sp>
    </p:spTree>
    <p:extLst>
      <p:ext uri="{BB962C8B-B14F-4D97-AF65-F5344CB8AC3E}">
        <p14:creationId xmlns:p14="http://schemas.microsoft.com/office/powerpoint/2010/main" val="348587134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9E6B15-33BF-194D-AD04-4F48EED0398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3DE4EEE-82FD-C2AC-1713-35989D15C6B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F49EE7-E1FC-BB48-661E-3C925999123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2B2EAC8-3DED-73E4-0897-B946D7F83549}"/>
              </a:ext>
            </a:extLst>
          </p:cNvPr>
          <p:cNvSpPr>
            <a:spLocks noGrp="1"/>
          </p:cNvSpPr>
          <p:nvPr>
            <p:ph type="sldNum" sz="quarter" idx="5"/>
          </p:nvPr>
        </p:nvSpPr>
        <p:spPr/>
        <p:txBody>
          <a:bodyPr/>
          <a:lstStyle/>
          <a:p>
            <a:fld id="{A81D9D3A-0C98-4CF1-B084-F26022EA5D67}" type="slidenum">
              <a:rPr lang="en-US" smtClean="0"/>
              <a:t>20</a:t>
            </a:fld>
            <a:endParaRPr lang="en-US"/>
          </a:p>
        </p:txBody>
      </p:sp>
    </p:spTree>
    <p:extLst>
      <p:ext uri="{BB962C8B-B14F-4D97-AF65-F5344CB8AC3E}">
        <p14:creationId xmlns:p14="http://schemas.microsoft.com/office/powerpoint/2010/main" val="48866230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50578D-CD68-F21E-E827-9A68CBF8BC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0A5FA67-4995-6141-7E76-157A41D7B88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F3491B0-DD9E-B3A7-8D89-B53C35CBD95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D131920-4502-5CA5-03F6-0E96ECD58B27}"/>
              </a:ext>
            </a:extLst>
          </p:cNvPr>
          <p:cNvSpPr>
            <a:spLocks noGrp="1"/>
          </p:cNvSpPr>
          <p:nvPr>
            <p:ph type="sldNum" sz="quarter" idx="5"/>
          </p:nvPr>
        </p:nvSpPr>
        <p:spPr/>
        <p:txBody>
          <a:bodyPr/>
          <a:lstStyle/>
          <a:p>
            <a:fld id="{A81D9D3A-0C98-4CF1-B084-F26022EA5D67}" type="slidenum">
              <a:rPr lang="en-US" smtClean="0"/>
              <a:t>21</a:t>
            </a:fld>
            <a:endParaRPr lang="en-US"/>
          </a:p>
        </p:txBody>
      </p:sp>
    </p:spTree>
    <p:extLst>
      <p:ext uri="{BB962C8B-B14F-4D97-AF65-F5344CB8AC3E}">
        <p14:creationId xmlns:p14="http://schemas.microsoft.com/office/powerpoint/2010/main" val="7783151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1D9D3A-0C98-4CF1-B084-F26022EA5D67}" type="slidenum">
              <a:rPr lang="en-US" smtClean="0"/>
              <a:t>22</a:t>
            </a:fld>
            <a:endParaRPr lang="en-US"/>
          </a:p>
        </p:txBody>
      </p:sp>
    </p:spTree>
    <p:extLst>
      <p:ext uri="{BB962C8B-B14F-4D97-AF65-F5344CB8AC3E}">
        <p14:creationId xmlns:p14="http://schemas.microsoft.com/office/powerpoint/2010/main" val="8298418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emf"/><Relationship Id="rId1" Type="http://schemas.openxmlformats.org/officeDocument/2006/relationships/slideMaster" Target="../slideMasters/slideMaster1.xml"/><Relationship Id="rId4" Type="http://schemas.openxmlformats.org/officeDocument/2006/relationships/image" Target="../media/image3.emf"/></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emf"/><Relationship Id="rId1" Type="http://schemas.openxmlformats.org/officeDocument/2006/relationships/slideMaster" Target="../slideMasters/slideMaster1.xml"/><Relationship Id="rId4" Type="http://schemas.openxmlformats.org/officeDocument/2006/relationships/image" Target="../media/image3.emf"/></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AB6F2A95-C7FF-4F8F-B377-C4DC7475983F}" type="datetimeFigureOut">
              <a:rPr lang="en-US" smtClean="0"/>
              <a:t>29-Oct-25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F0879EE-7A3A-457A-A725-E11BC5828D5E}" type="slidenum">
              <a:rPr lang="en-US" smtClean="0"/>
              <a:t>‹#›</a:t>
            </a:fld>
            <a:endParaRPr lang="en-US"/>
          </a:p>
        </p:txBody>
      </p:sp>
    </p:spTree>
    <p:extLst>
      <p:ext uri="{BB962C8B-B14F-4D97-AF65-F5344CB8AC3E}">
        <p14:creationId xmlns:p14="http://schemas.microsoft.com/office/powerpoint/2010/main" val="15780982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2"/>
          <a:stretch>
            <a:fillRect/>
          </a:stretch>
        </p:blipFill>
        <p:spPr>
          <a:xfrm>
            <a:off x="0" y="365125"/>
            <a:ext cx="9368408" cy="689297"/>
          </a:xfrm>
          <a:prstGeom prst="rect">
            <a:avLst/>
          </a:prstGeom>
        </p:spPr>
      </p:pic>
      <p:sp>
        <p:nvSpPr>
          <p:cNvPr id="2" name="Title 1"/>
          <p:cNvSpPr>
            <a:spLocks noGrp="1"/>
          </p:cNvSpPr>
          <p:nvPr>
            <p:ph type="title"/>
          </p:nvPr>
        </p:nvSpPr>
        <p:spPr>
          <a:xfrm>
            <a:off x="795133" y="365125"/>
            <a:ext cx="8388626" cy="689297"/>
          </a:xfrm>
        </p:spPr>
        <p:txBody>
          <a:bodyPr anchor="t"/>
          <a:lstStyle>
            <a:lvl1pPr algn="ctr">
              <a:defRPr lang="en-US" sz="4000" b="1" kern="1200" dirty="0">
                <a:solidFill>
                  <a:schemeClr val="bg1"/>
                </a:solidFill>
                <a:latin typeface="Roboto Condensed" panose="02000000000000000000" pitchFamily="2" charset="0"/>
                <a:ea typeface="Roboto Condensed" panose="02000000000000000000" pitchFamily="2" charset="0"/>
                <a:cs typeface="+mj-cs"/>
              </a:defRPr>
            </a:lvl1pPr>
          </a:lstStyle>
          <a:p>
            <a:r>
              <a:rPr lang="en-US"/>
              <a:t>Click to edit Master title style</a:t>
            </a:r>
            <a:endParaRPr lang="en-US" dirty="0"/>
          </a:p>
        </p:txBody>
      </p:sp>
      <p:sp>
        <p:nvSpPr>
          <p:cNvPr id="3" name="Content Placeholder 2"/>
          <p:cNvSpPr>
            <a:spLocks noGrp="1"/>
          </p:cNvSpPr>
          <p:nvPr>
            <p:ph idx="1"/>
          </p:nvPr>
        </p:nvSpPr>
        <p:spPr>
          <a:xfrm>
            <a:off x="838200" y="1391478"/>
            <a:ext cx="10515600" cy="4785485"/>
          </a:xfrm>
        </p:spPr>
        <p:txBody>
          <a:bodyPr/>
          <a:lstStyle>
            <a:lvl1pPr>
              <a:defRPr>
                <a:latin typeface="Century Gothic" panose="020B0502020202020204" pitchFamily="34" charset="0"/>
              </a:defRPr>
            </a:lvl1pPr>
            <a:lvl2pPr>
              <a:defRPr>
                <a:latin typeface="Century Gothic" panose="020B0502020202020204" pitchFamily="34" charset="0"/>
              </a:defRPr>
            </a:lvl2pPr>
            <a:lvl3pPr>
              <a:defRPr>
                <a:latin typeface="Century Gothic" panose="020B0502020202020204" pitchFamily="34" charset="0"/>
              </a:defRPr>
            </a:lvl3pPr>
            <a:lvl4pPr>
              <a:defRPr>
                <a:latin typeface="Century Gothic" panose="020B0502020202020204" pitchFamily="34" charset="0"/>
              </a:defRPr>
            </a:lvl4pPr>
            <a:lvl5pPr>
              <a:defRPr>
                <a:latin typeface="Century Gothic" panose="020B0502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B6F2A95-C7FF-4F8F-B377-C4DC7475983F}" type="datetimeFigureOut">
              <a:rPr lang="en-US" smtClean="0"/>
              <a:t>29-Oct-25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F0879EE-7A3A-457A-A725-E11BC5828D5E}" type="slidenum">
              <a:rPr lang="en-US" smtClean="0"/>
              <a:t>‹#›</a:t>
            </a:fld>
            <a:endParaRPr lang="en-US"/>
          </a:p>
        </p:txBody>
      </p:sp>
      <p:pic>
        <p:nvPicPr>
          <p:cNvPr id="10" name="Picture 9"/>
          <p:cNvPicPr>
            <a:picLocks noChangeAspect="1"/>
          </p:cNvPicPr>
          <p:nvPr userDrawn="1"/>
        </p:nvPicPr>
        <p:blipFill>
          <a:blip r:embed="rId3"/>
          <a:stretch>
            <a:fillRect/>
          </a:stretch>
        </p:blipFill>
        <p:spPr>
          <a:xfrm flipV="1">
            <a:off x="0" y="6254929"/>
            <a:ext cx="12192000" cy="603071"/>
          </a:xfrm>
          <a:prstGeom prst="rect">
            <a:avLst/>
          </a:prstGeom>
        </p:spPr>
      </p:pic>
      <p:pic>
        <p:nvPicPr>
          <p:cNvPr id="11" name="Picture 10"/>
          <p:cNvPicPr>
            <a:picLocks noChangeAspect="1"/>
          </p:cNvPicPr>
          <p:nvPr userDrawn="1"/>
        </p:nvPicPr>
        <p:blipFill rotWithShape="1">
          <a:blip r:embed="rId4"/>
          <a:srcRect t="-1" r="28030" b="-1"/>
          <a:stretch/>
        </p:blipFill>
        <p:spPr>
          <a:xfrm>
            <a:off x="9402203" y="365125"/>
            <a:ext cx="2789797" cy="656859"/>
          </a:xfrm>
          <a:prstGeom prst="rect">
            <a:avLst/>
          </a:prstGeom>
        </p:spPr>
      </p:pic>
    </p:spTree>
    <p:extLst>
      <p:ext uri="{BB962C8B-B14F-4D97-AF65-F5344CB8AC3E}">
        <p14:creationId xmlns:p14="http://schemas.microsoft.com/office/powerpoint/2010/main" val="2145957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B6F2A95-C7FF-4F8F-B377-C4DC7475983F}" type="datetimeFigureOut">
              <a:rPr lang="en-US" smtClean="0"/>
              <a:t>29-Oct-25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F0879EE-7A3A-457A-A725-E11BC5828D5E}" type="slidenum">
              <a:rPr lang="en-US" smtClean="0"/>
              <a:t>‹#›</a:t>
            </a:fld>
            <a:endParaRPr lang="en-US"/>
          </a:p>
        </p:txBody>
      </p:sp>
    </p:spTree>
    <p:extLst>
      <p:ext uri="{BB962C8B-B14F-4D97-AF65-F5344CB8AC3E}">
        <p14:creationId xmlns:p14="http://schemas.microsoft.com/office/powerpoint/2010/main" val="32992339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AB6F2A95-C7FF-4F8F-B377-C4DC7475983F}" type="datetimeFigureOut">
              <a:rPr lang="en-US" smtClean="0"/>
              <a:t>29-Oct-25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F0879EE-7A3A-457A-A725-E11BC5828D5E}" type="slidenum">
              <a:rPr lang="en-US" smtClean="0"/>
              <a:t>‹#›</a:t>
            </a:fld>
            <a:endParaRPr lang="en-US"/>
          </a:p>
        </p:txBody>
      </p:sp>
    </p:spTree>
    <p:extLst>
      <p:ext uri="{BB962C8B-B14F-4D97-AF65-F5344CB8AC3E}">
        <p14:creationId xmlns:p14="http://schemas.microsoft.com/office/powerpoint/2010/main" val="26137815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AB6F2A95-C7FF-4F8F-B377-C4DC7475983F}" type="datetimeFigureOut">
              <a:rPr lang="en-US" smtClean="0"/>
              <a:t>29-Oct-25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F0879EE-7A3A-457A-A725-E11BC5828D5E}" type="slidenum">
              <a:rPr lang="en-US" smtClean="0"/>
              <a:t>‹#›</a:t>
            </a:fld>
            <a:endParaRPr lang="en-US"/>
          </a:p>
        </p:txBody>
      </p:sp>
    </p:spTree>
    <p:extLst>
      <p:ext uri="{BB962C8B-B14F-4D97-AF65-F5344CB8AC3E}">
        <p14:creationId xmlns:p14="http://schemas.microsoft.com/office/powerpoint/2010/main" val="5558180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AB6F2A95-C7FF-4F8F-B377-C4DC7475983F}" type="datetimeFigureOut">
              <a:rPr lang="en-US" smtClean="0"/>
              <a:t>29-Oct-25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F0879EE-7A3A-457A-A725-E11BC5828D5E}" type="slidenum">
              <a:rPr lang="en-US" smtClean="0"/>
              <a:t>‹#›</a:t>
            </a:fld>
            <a:endParaRPr lang="en-US"/>
          </a:p>
        </p:txBody>
      </p:sp>
    </p:spTree>
    <p:extLst>
      <p:ext uri="{BB962C8B-B14F-4D97-AF65-F5344CB8AC3E}">
        <p14:creationId xmlns:p14="http://schemas.microsoft.com/office/powerpoint/2010/main" val="5948568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B6F2A95-C7FF-4F8F-B377-C4DC7475983F}" type="datetimeFigureOut">
              <a:rPr lang="en-US" smtClean="0"/>
              <a:t>29-Oct-25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F0879EE-7A3A-457A-A725-E11BC5828D5E}" type="slidenum">
              <a:rPr lang="en-US" smtClean="0"/>
              <a:t>‹#›</a:t>
            </a:fld>
            <a:endParaRPr lang="en-US"/>
          </a:p>
        </p:txBody>
      </p:sp>
    </p:spTree>
    <p:extLst>
      <p:ext uri="{BB962C8B-B14F-4D97-AF65-F5344CB8AC3E}">
        <p14:creationId xmlns:p14="http://schemas.microsoft.com/office/powerpoint/2010/main" val="40970916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B6F2A95-C7FF-4F8F-B377-C4DC7475983F}" type="datetimeFigureOut">
              <a:rPr lang="en-US" smtClean="0"/>
              <a:t>29-Oct-25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F0879EE-7A3A-457A-A725-E11BC5828D5E}" type="slidenum">
              <a:rPr lang="en-US" smtClean="0"/>
              <a:t>‹#›</a:t>
            </a:fld>
            <a:endParaRPr lang="en-US"/>
          </a:p>
        </p:txBody>
      </p:sp>
    </p:spTree>
    <p:extLst>
      <p:ext uri="{BB962C8B-B14F-4D97-AF65-F5344CB8AC3E}">
        <p14:creationId xmlns:p14="http://schemas.microsoft.com/office/powerpoint/2010/main" val="33984815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B6F2A95-C7FF-4F8F-B377-C4DC7475983F}" type="datetimeFigureOut">
              <a:rPr lang="en-US" smtClean="0"/>
              <a:t>29-Oct-25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F0879EE-7A3A-457A-A725-E11BC5828D5E}" type="slidenum">
              <a:rPr lang="en-US" smtClean="0"/>
              <a:t>‹#›</a:t>
            </a:fld>
            <a:endParaRPr lang="en-US"/>
          </a:p>
        </p:txBody>
      </p:sp>
    </p:spTree>
    <p:extLst>
      <p:ext uri="{BB962C8B-B14F-4D97-AF65-F5344CB8AC3E}">
        <p14:creationId xmlns:p14="http://schemas.microsoft.com/office/powerpoint/2010/main" val="37269249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B6F2A95-C7FF-4F8F-B377-C4DC7475983F}" type="datetimeFigureOut">
              <a:rPr lang="en-US" smtClean="0"/>
              <a:t>29-Oct-25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F0879EE-7A3A-457A-A725-E11BC5828D5E}" type="slidenum">
              <a:rPr lang="en-US" smtClean="0"/>
              <a:t>‹#›</a:t>
            </a:fld>
            <a:endParaRPr lang="en-US"/>
          </a:p>
        </p:txBody>
      </p:sp>
    </p:spTree>
    <p:extLst>
      <p:ext uri="{BB962C8B-B14F-4D97-AF65-F5344CB8AC3E}">
        <p14:creationId xmlns:p14="http://schemas.microsoft.com/office/powerpoint/2010/main" val="16652847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B6F2A95-C7FF-4F8F-B377-C4DC7475983F}" type="datetimeFigureOut">
              <a:rPr lang="en-US" smtClean="0"/>
              <a:t>29-Oct-25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F0879EE-7A3A-457A-A725-E11BC5828D5E}" type="slidenum">
              <a:rPr lang="en-US" smtClean="0"/>
              <a:t>‹#›</a:t>
            </a:fld>
            <a:endParaRPr lang="en-US"/>
          </a:p>
        </p:txBody>
      </p:sp>
    </p:spTree>
    <p:extLst>
      <p:ext uri="{BB962C8B-B14F-4D97-AF65-F5344CB8AC3E}">
        <p14:creationId xmlns:p14="http://schemas.microsoft.com/office/powerpoint/2010/main" val="409796619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2_Contents slide layout">
    <p:spTree>
      <p:nvGrpSpPr>
        <p:cNvPr id="1" name=""/>
        <p:cNvGrpSpPr/>
        <p:nvPr/>
      </p:nvGrpSpPr>
      <p:grpSpPr>
        <a:xfrm>
          <a:off x="0" y="0"/>
          <a:ext cx="0" cy="0"/>
          <a:chOff x="0" y="0"/>
          <a:chExt cx="0" cy="0"/>
        </a:xfrm>
      </p:grpSpPr>
      <p:sp>
        <p:nvSpPr>
          <p:cNvPr id="7" name="Rectangle 43">
            <a:extLst>
              <a:ext uri="{FF2B5EF4-FFF2-40B4-BE49-F238E27FC236}">
                <a16:creationId xmlns:a16="http://schemas.microsoft.com/office/drawing/2014/main" id="{C475EC33-8CC8-4DB6-853A-C88CCC9B7B42}"/>
              </a:ext>
            </a:extLst>
          </p:cNvPr>
          <p:cNvSpPr/>
          <p:nvPr userDrawn="1"/>
        </p:nvSpPr>
        <p:spPr>
          <a:xfrm>
            <a:off x="6019800" y="3706275"/>
            <a:ext cx="2438400" cy="1692000"/>
          </a:xfrm>
          <a:prstGeom prst="rect">
            <a:avLst/>
          </a:prstGeom>
          <a:solidFill>
            <a:srgbClr val="B4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200" dirty="0">
              <a:solidFill>
                <a:schemeClr val="tx1">
                  <a:lumMod val="75000"/>
                  <a:lumOff val="25000"/>
                </a:schemeClr>
              </a:solidFill>
              <a:latin typeface="+mn-lt"/>
            </a:endParaRPr>
          </a:p>
        </p:txBody>
      </p:sp>
      <p:sp>
        <p:nvSpPr>
          <p:cNvPr id="9" name="Rectangle 47">
            <a:extLst>
              <a:ext uri="{FF2B5EF4-FFF2-40B4-BE49-F238E27FC236}">
                <a16:creationId xmlns:a16="http://schemas.microsoft.com/office/drawing/2014/main" id="{F3FE88B0-2A67-4B06-BAF8-DA185704832F}"/>
              </a:ext>
            </a:extLst>
          </p:cNvPr>
          <p:cNvSpPr/>
          <p:nvPr userDrawn="1"/>
        </p:nvSpPr>
        <p:spPr>
          <a:xfrm>
            <a:off x="3581400" y="2013764"/>
            <a:ext cx="2438400" cy="1692000"/>
          </a:xfrm>
          <a:prstGeom prst="rect">
            <a:avLst/>
          </a:prstGeom>
          <a:solidFill>
            <a:srgbClr val="007DC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200" dirty="0">
              <a:solidFill>
                <a:schemeClr val="tx1">
                  <a:lumMod val="75000"/>
                  <a:lumOff val="25000"/>
                </a:schemeClr>
              </a:solidFill>
              <a:latin typeface="+mn-lt"/>
            </a:endParaRPr>
          </a:p>
        </p:txBody>
      </p:sp>
      <p:sp>
        <p:nvSpPr>
          <p:cNvPr id="11" name="그림 개체 틀 2">
            <a:extLst>
              <a:ext uri="{FF2B5EF4-FFF2-40B4-BE49-F238E27FC236}">
                <a16:creationId xmlns:a16="http://schemas.microsoft.com/office/drawing/2014/main" id="{E3A5FD35-7E79-451B-924D-346F7714B61D}"/>
              </a:ext>
            </a:extLst>
          </p:cNvPr>
          <p:cNvSpPr>
            <a:spLocks noGrp="1"/>
          </p:cNvSpPr>
          <p:nvPr>
            <p:ph type="pic" sz="quarter" idx="42" hasCustomPrompt="1"/>
          </p:nvPr>
        </p:nvSpPr>
        <p:spPr>
          <a:xfrm>
            <a:off x="6019800" y="2013764"/>
            <a:ext cx="2438400" cy="1692000"/>
          </a:xfrm>
          <a:prstGeom prst="rect">
            <a:avLst/>
          </a:prstGeom>
          <a:solidFill>
            <a:schemeClr val="bg1">
              <a:lumMod val="95000"/>
            </a:schemeClr>
          </a:solidFill>
          <a:ln w="25400">
            <a:noFill/>
          </a:ln>
          <a:effectLst/>
        </p:spPr>
        <p:txBody>
          <a:bodyPr anchor="ctr"/>
          <a:lstStyle>
            <a:lvl1pPr marL="0" indent="0" algn="ctr">
              <a:buFontTx/>
              <a:buNone/>
              <a:defRPr sz="1200">
                <a:solidFill>
                  <a:schemeClr val="tx1">
                    <a:lumMod val="75000"/>
                    <a:lumOff val="25000"/>
                  </a:schemeClr>
                </a:solidFill>
                <a:latin typeface="+mn-lt"/>
              </a:defRPr>
            </a:lvl1pPr>
          </a:lstStyle>
          <a:p>
            <a:r>
              <a:rPr lang="en-US" altLang="ko-KR" dirty="0"/>
              <a:t>Place Your Picture Here</a:t>
            </a:r>
            <a:endParaRPr lang="ko-KR" altLang="en-US" dirty="0"/>
          </a:p>
        </p:txBody>
      </p:sp>
      <p:sp>
        <p:nvSpPr>
          <p:cNvPr id="14" name="그림 개체 틀 2">
            <a:extLst>
              <a:ext uri="{FF2B5EF4-FFF2-40B4-BE49-F238E27FC236}">
                <a16:creationId xmlns:a16="http://schemas.microsoft.com/office/drawing/2014/main" id="{01DD4038-BEB5-4201-88F3-B694D6319076}"/>
              </a:ext>
            </a:extLst>
          </p:cNvPr>
          <p:cNvSpPr>
            <a:spLocks noGrp="1"/>
          </p:cNvSpPr>
          <p:nvPr>
            <p:ph type="pic" sz="quarter" idx="45" hasCustomPrompt="1"/>
          </p:nvPr>
        </p:nvSpPr>
        <p:spPr>
          <a:xfrm>
            <a:off x="3581400" y="3706275"/>
            <a:ext cx="2438400" cy="1692000"/>
          </a:xfrm>
          <a:prstGeom prst="rect">
            <a:avLst/>
          </a:prstGeom>
          <a:solidFill>
            <a:schemeClr val="bg1">
              <a:lumMod val="95000"/>
            </a:schemeClr>
          </a:solidFill>
          <a:ln w="25400">
            <a:noFill/>
          </a:ln>
          <a:effectLst/>
        </p:spPr>
        <p:txBody>
          <a:bodyPr anchor="ctr"/>
          <a:lstStyle>
            <a:lvl1pPr marL="0" indent="0" algn="ctr">
              <a:buFontTx/>
              <a:buNone/>
              <a:defRPr sz="1200">
                <a:solidFill>
                  <a:schemeClr val="tx1">
                    <a:lumMod val="75000"/>
                    <a:lumOff val="25000"/>
                  </a:schemeClr>
                </a:solidFill>
                <a:latin typeface="+mn-lt"/>
              </a:defRPr>
            </a:lvl1pPr>
          </a:lstStyle>
          <a:p>
            <a:r>
              <a:rPr lang="en-US" altLang="ko-KR" dirty="0"/>
              <a:t>Place Your Picture Here</a:t>
            </a:r>
            <a:endParaRPr lang="ko-KR" altLang="en-US" dirty="0"/>
          </a:p>
        </p:txBody>
      </p:sp>
      <p:pic>
        <p:nvPicPr>
          <p:cNvPr id="15" name="Picture 14">
            <a:extLst>
              <a:ext uri="{FF2B5EF4-FFF2-40B4-BE49-F238E27FC236}">
                <a16:creationId xmlns:a16="http://schemas.microsoft.com/office/drawing/2014/main" id="{590CDC19-A709-4986-9002-BB51067CEFB7}"/>
              </a:ext>
            </a:extLst>
          </p:cNvPr>
          <p:cNvPicPr>
            <a:picLocks noChangeAspect="1"/>
          </p:cNvPicPr>
          <p:nvPr userDrawn="1"/>
        </p:nvPicPr>
        <p:blipFill>
          <a:blip r:embed="rId2"/>
          <a:stretch>
            <a:fillRect/>
          </a:stretch>
        </p:blipFill>
        <p:spPr>
          <a:xfrm>
            <a:off x="0" y="365125"/>
            <a:ext cx="9368408" cy="689297"/>
          </a:xfrm>
          <a:prstGeom prst="rect">
            <a:avLst/>
          </a:prstGeom>
        </p:spPr>
      </p:pic>
      <p:sp>
        <p:nvSpPr>
          <p:cNvPr id="16" name="Title 1">
            <a:extLst>
              <a:ext uri="{FF2B5EF4-FFF2-40B4-BE49-F238E27FC236}">
                <a16:creationId xmlns:a16="http://schemas.microsoft.com/office/drawing/2014/main" id="{E6715BB4-208B-475A-90CE-C9D2E9199809}"/>
              </a:ext>
            </a:extLst>
          </p:cNvPr>
          <p:cNvSpPr>
            <a:spLocks noGrp="1"/>
          </p:cNvSpPr>
          <p:nvPr>
            <p:ph type="title"/>
          </p:nvPr>
        </p:nvSpPr>
        <p:spPr>
          <a:xfrm>
            <a:off x="795133" y="365125"/>
            <a:ext cx="8388626" cy="689297"/>
          </a:xfrm>
        </p:spPr>
        <p:txBody>
          <a:bodyPr anchor="t"/>
          <a:lstStyle>
            <a:lvl1pPr algn="ctr">
              <a:defRPr lang="en-US" sz="4000" b="1" kern="1200" dirty="0">
                <a:solidFill>
                  <a:schemeClr val="bg1"/>
                </a:solidFill>
                <a:latin typeface="Roboto Condensed" panose="02000000000000000000" pitchFamily="2" charset="0"/>
                <a:ea typeface="Roboto Condensed" panose="02000000000000000000" pitchFamily="2" charset="0"/>
                <a:cs typeface="+mj-cs"/>
              </a:defRPr>
            </a:lvl1pPr>
          </a:lstStyle>
          <a:p>
            <a:r>
              <a:rPr lang="en-US"/>
              <a:t>Click to edit Master title style</a:t>
            </a:r>
            <a:endParaRPr lang="en-US" dirty="0"/>
          </a:p>
        </p:txBody>
      </p:sp>
      <p:sp>
        <p:nvSpPr>
          <p:cNvPr id="17" name="Date Placeholder 3">
            <a:extLst>
              <a:ext uri="{FF2B5EF4-FFF2-40B4-BE49-F238E27FC236}">
                <a16:creationId xmlns:a16="http://schemas.microsoft.com/office/drawing/2014/main" id="{AFFC1814-76AB-40DE-AE82-E9209DA5C198}"/>
              </a:ext>
            </a:extLst>
          </p:cNvPr>
          <p:cNvSpPr>
            <a:spLocks noGrp="1"/>
          </p:cNvSpPr>
          <p:nvPr>
            <p:ph type="dt" sz="half" idx="46"/>
          </p:nvPr>
        </p:nvSpPr>
        <p:spPr>
          <a:xfrm>
            <a:off x="838200" y="6356350"/>
            <a:ext cx="2743200" cy="365125"/>
          </a:xfrm>
        </p:spPr>
        <p:txBody>
          <a:bodyPr/>
          <a:lstStyle/>
          <a:p>
            <a:fld id="{AB6F2A95-C7FF-4F8F-B377-C4DC7475983F}" type="datetimeFigureOut">
              <a:rPr lang="en-US" smtClean="0"/>
              <a:t>29-Oct-25</a:t>
            </a:fld>
            <a:endParaRPr lang="en-US"/>
          </a:p>
        </p:txBody>
      </p:sp>
      <p:sp>
        <p:nvSpPr>
          <p:cNvPr id="18" name="Footer Placeholder 4">
            <a:extLst>
              <a:ext uri="{FF2B5EF4-FFF2-40B4-BE49-F238E27FC236}">
                <a16:creationId xmlns:a16="http://schemas.microsoft.com/office/drawing/2014/main" id="{B0759049-CC57-4E02-8DE8-8FF37AB9A2C5}"/>
              </a:ext>
            </a:extLst>
          </p:cNvPr>
          <p:cNvSpPr>
            <a:spLocks noGrp="1"/>
          </p:cNvSpPr>
          <p:nvPr>
            <p:ph type="ftr" sz="quarter" idx="47"/>
          </p:nvPr>
        </p:nvSpPr>
        <p:spPr>
          <a:xfrm>
            <a:off x="4038600" y="6356350"/>
            <a:ext cx="4114800" cy="365125"/>
          </a:xfrm>
        </p:spPr>
        <p:txBody>
          <a:bodyPr/>
          <a:lstStyle/>
          <a:p>
            <a:endParaRPr lang="en-US"/>
          </a:p>
        </p:txBody>
      </p:sp>
      <p:sp>
        <p:nvSpPr>
          <p:cNvPr id="19" name="Slide Number Placeholder 5">
            <a:extLst>
              <a:ext uri="{FF2B5EF4-FFF2-40B4-BE49-F238E27FC236}">
                <a16:creationId xmlns:a16="http://schemas.microsoft.com/office/drawing/2014/main" id="{9498E3D4-89B2-4E88-BDD3-0E91042A9876}"/>
              </a:ext>
            </a:extLst>
          </p:cNvPr>
          <p:cNvSpPr>
            <a:spLocks noGrp="1"/>
          </p:cNvSpPr>
          <p:nvPr>
            <p:ph type="sldNum" sz="quarter" idx="12"/>
          </p:nvPr>
        </p:nvSpPr>
        <p:spPr>
          <a:xfrm>
            <a:off x="8610600" y="6356350"/>
            <a:ext cx="2743200" cy="365125"/>
          </a:xfrm>
        </p:spPr>
        <p:txBody>
          <a:bodyPr/>
          <a:lstStyle/>
          <a:p>
            <a:fld id="{1F0879EE-7A3A-457A-A725-E11BC5828D5E}" type="slidenum">
              <a:rPr lang="en-US" smtClean="0"/>
              <a:t>‹#›</a:t>
            </a:fld>
            <a:endParaRPr lang="en-US"/>
          </a:p>
        </p:txBody>
      </p:sp>
      <p:pic>
        <p:nvPicPr>
          <p:cNvPr id="20" name="Picture 19">
            <a:extLst>
              <a:ext uri="{FF2B5EF4-FFF2-40B4-BE49-F238E27FC236}">
                <a16:creationId xmlns:a16="http://schemas.microsoft.com/office/drawing/2014/main" id="{9FA08628-6571-42BB-9C0A-2E46CC6FCA10}"/>
              </a:ext>
            </a:extLst>
          </p:cNvPr>
          <p:cNvPicPr>
            <a:picLocks noChangeAspect="1"/>
          </p:cNvPicPr>
          <p:nvPr userDrawn="1"/>
        </p:nvPicPr>
        <p:blipFill>
          <a:blip r:embed="rId3"/>
          <a:stretch>
            <a:fillRect/>
          </a:stretch>
        </p:blipFill>
        <p:spPr>
          <a:xfrm flipV="1">
            <a:off x="0" y="6254929"/>
            <a:ext cx="12192000" cy="603071"/>
          </a:xfrm>
          <a:prstGeom prst="rect">
            <a:avLst/>
          </a:prstGeom>
        </p:spPr>
      </p:pic>
      <p:pic>
        <p:nvPicPr>
          <p:cNvPr id="21" name="Picture 20">
            <a:extLst>
              <a:ext uri="{FF2B5EF4-FFF2-40B4-BE49-F238E27FC236}">
                <a16:creationId xmlns:a16="http://schemas.microsoft.com/office/drawing/2014/main" id="{89578E4E-1082-47FC-AAD5-575B6D94C8DA}"/>
              </a:ext>
            </a:extLst>
          </p:cNvPr>
          <p:cNvPicPr>
            <a:picLocks noChangeAspect="1"/>
          </p:cNvPicPr>
          <p:nvPr userDrawn="1"/>
        </p:nvPicPr>
        <p:blipFill rotWithShape="1">
          <a:blip r:embed="rId4"/>
          <a:srcRect t="-1" r="28030" b="-1"/>
          <a:stretch/>
        </p:blipFill>
        <p:spPr>
          <a:xfrm>
            <a:off x="9402203" y="365125"/>
            <a:ext cx="2789797" cy="656859"/>
          </a:xfrm>
          <a:prstGeom prst="rect">
            <a:avLst/>
          </a:prstGeom>
        </p:spPr>
      </p:pic>
    </p:spTree>
    <p:extLst>
      <p:ext uri="{BB962C8B-B14F-4D97-AF65-F5344CB8AC3E}">
        <p14:creationId xmlns:p14="http://schemas.microsoft.com/office/powerpoint/2010/main" val="25003799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5_Contents slide layout">
    <p:spTree>
      <p:nvGrpSpPr>
        <p:cNvPr id="1" name=""/>
        <p:cNvGrpSpPr/>
        <p:nvPr/>
      </p:nvGrpSpPr>
      <p:grpSpPr>
        <a:xfrm>
          <a:off x="0" y="0"/>
          <a:ext cx="0" cy="0"/>
          <a:chOff x="0" y="0"/>
          <a:chExt cx="0" cy="0"/>
        </a:xfrm>
      </p:grpSpPr>
      <p:sp>
        <p:nvSpPr>
          <p:cNvPr id="2" name="Text Placeholder 9"/>
          <p:cNvSpPr>
            <a:spLocks noGrp="1"/>
          </p:cNvSpPr>
          <p:nvPr>
            <p:ph type="body" sz="quarter" idx="10" hasCustomPrompt="1"/>
          </p:nvPr>
        </p:nvSpPr>
        <p:spPr>
          <a:xfrm>
            <a:off x="323528" y="287254"/>
            <a:ext cx="11573197" cy="724247"/>
          </a:xfrm>
          <a:prstGeom prst="rect">
            <a:avLst/>
          </a:prstGeom>
        </p:spPr>
        <p:txBody>
          <a:bodyPr anchor="ctr"/>
          <a:lstStyle>
            <a:lvl1pPr marL="0" indent="0" algn="ctr">
              <a:buNone/>
              <a:defRPr sz="5400" b="0" baseline="0">
                <a:solidFill>
                  <a:schemeClr val="tx1">
                    <a:lumMod val="85000"/>
                    <a:lumOff val="15000"/>
                  </a:schemeClr>
                </a:solidFill>
                <a:latin typeface="+mj-lt"/>
                <a:cs typeface="Arial" pitchFamily="34" charset="0"/>
              </a:defRPr>
            </a:lvl1pPr>
          </a:lstStyle>
          <a:p>
            <a:pPr lvl="0"/>
            <a:r>
              <a:rPr lang="en-US" altLang="ko-KR" dirty="0"/>
              <a:t>BASIC LAYOUT</a:t>
            </a:r>
          </a:p>
        </p:txBody>
      </p:sp>
      <p:sp>
        <p:nvSpPr>
          <p:cNvPr id="7" name="Rectangle 1">
            <a:extLst>
              <a:ext uri="{FF2B5EF4-FFF2-40B4-BE49-F238E27FC236}">
                <a16:creationId xmlns:a16="http://schemas.microsoft.com/office/drawing/2014/main" id="{3EB48E5A-CBAD-40D5-9C57-D847F6E8C265}"/>
              </a:ext>
            </a:extLst>
          </p:cNvPr>
          <p:cNvSpPr/>
          <p:nvPr userDrawn="1"/>
        </p:nvSpPr>
        <p:spPr>
          <a:xfrm>
            <a:off x="1" y="1411084"/>
            <a:ext cx="970844" cy="3351662"/>
          </a:xfrm>
          <a:prstGeom prst="rect">
            <a:avLst/>
          </a:prstGeom>
          <a:solidFill>
            <a:srgbClr val="B4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200">
              <a:latin typeface="+mn-lt"/>
            </a:endParaRPr>
          </a:p>
        </p:txBody>
      </p:sp>
      <p:sp>
        <p:nvSpPr>
          <p:cNvPr id="9" name="Rectangle 4">
            <a:extLst>
              <a:ext uri="{FF2B5EF4-FFF2-40B4-BE49-F238E27FC236}">
                <a16:creationId xmlns:a16="http://schemas.microsoft.com/office/drawing/2014/main" id="{546FB37F-ABC8-4068-B989-FA32AC28DD69}"/>
              </a:ext>
            </a:extLst>
          </p:cNvPr>
          <p:cNvSpPr/>
          <p:nvPr userDrawn="1"/>
        </p:nvSpPr>
        <p:spPr>
          <a:xfrm>
            <a:off x="2265047" y="3555870"/>
            <a:ext cx="2408255" cy="576064"/>
          </a:xfrm>
          <a:custGeom>
            <a:avLst/>
            <a:gdLst/>
            <a:ahLst/>
            <a:cxnLst/>
            <a:rect l="l" t="t" r="r" b="b"/>
            <a:pathLst>
              <a:path w="2258309" h="432048">
                <a:moveTo>
                  <a:pt x="2177175" y="0"/>
                </a:moveTo>
                <a:lnTo>
                  <a:pt x="2258309" y="0"/>
                </a:lnTo>
                <a:lnTo>
                  <a:pt x="2258309" y="432048"/>
                </a:lnTo>
                <a:lnTo>
                  <a:pt x="0" y="432048"/>
                </a:lnTo>
                <a:lnTo>
                  <a:pt x="0" y="343106"/>
                </a:lnTo>
                <a:lnTo>
                  <a:pt x="2177175" y="343106"/>
                </a:lnTo>
                <a:close/>
              </a:path>
            </a:pathLst>
          </a:custGeom>
          <a:solidFill>
            <a:srgbClr val="B4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ko-KR" altLang="en-US" sz="1200">
              <a:solidFill>
                <a:schemeClr val="accent2"/>
              </a:solidFill>
              <a:latin typeface="+mn-lt"/>
            </a:endParaRPr>
          </a:p>
        </p:txBody>
      </p:sp>
      <p:sp>
        <p:nvSpPr>
          <p:cNvPr id="10" name="그림 개체 틀 2">
            <a:extLst>
              <a:ext uri="{FF2B5EF4-FFF2-40B4-BE49-F238E27FC236}">
                <a16:creationId xmlns:a16="http://schemas.microsoft.com/office/drawing/2014/main" id="{A37D2DE5-5AD9-4E7A-8E13-A09737DB999A}"/>
              </a:ext>
            </a:extLst>
          </p:cNvPr>
          <p:cNvSpPr>
            <a:spLocks noGrp="1"/>
          </p:cNvSpPr>
          <p:nvPr>
            <p:ph type="pic" sz="quarter" idx="12" hasCustomPrompt="1"/>
          </p:nvPr>
        </p:nvSpPr>
        <p:spPr>
          <a:xfrm>
            <a:off x="2265047" y="1503510"/>
            <a:ext cx="2316874" cy="2520865"/>
          </a:xfrm>
          <a:prstGeom prst="rect">
            <a:avLst/>
          </a:prstGeom>
          <a:solidFill>
            <a:schemeClr val="bg1">
              <a:lumMod val="95000"/>
            </a:schemeClr>
          </a:solidFill>
          <a:ln w="25400">
            <a:noFill/>
          </a:ln>
          <a:effectLst/>
        </p:spPr>
        <p:txBody>
          <a:bodyPr anchor="ctr"/>
          <a:lstStyle>
            <a:lvl1pPr marL="0" indent="0" algn="ctr">
              <a:buFontTx/>
              <a:buNone/>
              <a:defRPr sz="1200">
                <a:solidFill>
                  <a:schemeClr val="tx1">
                    <a:lumMod val="75000"/>
                    <a:lumOff val="25000"/>
                  </a:schemeClr>
                </a:solidFill>
                <a:latin typeface="+mn-lt"/>
                <a:cs typeface="Arial" pitchFamily="34" charset="0"/>
              </a:defRPr>
            </a:lvl1pPr>
          </a:lstStyle>
          <a:p>
            <a:r>
              <a:rPr lang="en-US" altLang="ko-KR" dirty="0"/>
              <a:t>Place Your Picture Here</a:t>
            </a:r>
            <a:endParaRPr lang="ko-KR" altLang="en-US" dirty="0"/>
          </a:p>
        </p:txBody>
      </p:sp>
      <p:sp>
        <p:nvSpPr>
          <p:cNvPr id="11" name="Rectangle 2">
            <a:extLst>
              <a:ext uri="{FF2B5EF4-FFF2-40B4-BE49-F238E27FC236}">
                <a16:creationId xmlns:a16="http://schemas.microsoft.com/office/drawing/2014/main" id="{FDE14E29-DEE7-4B9A-AE9A-6FB2F585607D}"/>
              </a:ext>
            </a:extLst>
          </p:cNvPr>
          <p:cNvSpPr/>
          <p:nvPr userDrawn="1"/>
        </p:nvSpPr>
        <p:spPr>
          <a:xfrm>
            <a:off x="2170862" y="1422585"/>
            <a:ext cx="960107" cy="1344149"/>
          </a:xfrm>
          <a:custGeom>
            <a:avLst/>
            <a:gdLst/>
            <a:ahLst/>
            <a:cxnLst/>
            <a:rect l="l" t="t" r="r" b="b"/>
            <a:pathLst>
              <a:path w="720080" h="1008112">
                <a:moveTo>
                  <a:pt x="0" y="0"/>
                </a:moveTo>
                <a:lnTo>
                  <a:pt x="720080" y="0"/>
                </a:lnTo>
                <a:lnTo>
                  <a:pt x="720080" y="63541"/>
                </a:lnTo>
                <a:lnTo>
                  <a:pt x="72008" y="63541"/>
                </a:lnTo>
                <a:lnTo>
                  <a:pt x="72008" y="1008112"/>
                </a:lnTo>
                <a:lnTo>
                  <a:pt x="0" y="1008112"/>
                </a:lnTo>
                <a:close/>
              </a:path>
            </a:pathLst>
          </a:custGeom>
          <a:solidFill>
            <a:srgbClr val="B4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200">
              <a:latin typeface="+mn-lt"/>
            </a:endParaRPr>
          </a:p>
        </p:txBody>
      </p:sp>
      <p:sp>
        <p:nvSpPr>
          <p:cNvPr id="12" name="Rectangle 4">
            <a:extLst>
              <a:ext uri="{FF2B5EF4-FFF2-40B4-BE49-F238E27FC236}">
                <a16:creationId xmlns:a16="http://schemas.microsoft.com/office/drawing/2014/main" id="{8528CCF0-B66B-4CE2-96C1-DDA7F46E8675}"/>
              </a:ext>
            </a:extLst>
          </p:cNvPr>
          <p:cNvSpPr/>
          <p:nvPr userDrawn="1"/>
        </p:nvSpPr>
        <p:spPr>
          <a:xfrm>
            <a:off x="5000813" y="3544369"/>
            <a:ext cx="2408255" cy="576064"/>
          </a:xfrm>
          <a:custGeom>
            <a:avLst/>
            <a:gdLst/>
            <a:ahLst/>
            <a:cxnLst/>
            <a:rect l="l" t="t" r="r" b="b"/>
            <a:pathLst>
              <a:path w="2258309" h="432048">
                <a:moveTo>
                  <a:pt x="2177175" y="0"/>
                </a:moveTo>
                <a:lnTo>
                  <a:pt x="2258309" y="0"/>
                </a:lnTo>
                <a:lnTo>
                  <a:pt x="2258309" y="432048"/>
                </a:lnTo>
                <a:lnTo>
                  <a:pt x="0" y="432048"/>
                </a:lnTo>
                <a:lnTo>
                  <a:pt x="0" y="343106"/>
                </a:lnTo>
                <a:lnTo>
                  <a:pt x="2177175" y="343106"/>
                </a:lnTo>
                <a:close/>
              </a:path>
            </a:pathLst>
          </a:custGeom>
          <a:solidFill>
            <a:srgbClr val="B4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ko-KR" altLang="en-US" sz="1200">
              <a:latin typeface="+mn-lt"/>
            </a:endParaRPr>
          </a:p>
        </p:txBody>
      </p:sp>
      <p:sp>
        <p:nvSpPr>
          <p:cNvPr id="13" name="그림 개체 틀 2">
            <a:extLst>
              <a:ext uri="{FF2B5EF4-FFF2-40B4-BE49-F238E27FC236}">
                <a16:creationId xmlns:a16="http://schemas.microsoft.com/office/drawing/2014/main" id="{550451AF-3294-4443-8D31-1CA35AA5EEB8}"/>
              </a:ext>
            </a:extLst>
          </p:cNvPr>
          <p:cNvSpPr>
            <a:spLocks noGrp="1"/>
          </p:cNvSpPr>
          <p:nvPr>
            <p:ph type="pic" sz="quarter" idx="13" hasCustomPrompt="1"/>
          </p:nvPr>
        </p:nvSpPr>
        <p:spPr>
          <a:xfrm>
            <a:off x="5000813" y="1492009"/>
            <a:ext cx="2316874" cy="2520865"/>
          </a:xfrm>
          <a:prstGeom prst="rect">
            <a:avLst/>
          </a:prstGeom>
          <a:solidFill>
            <a:schemeClr val="bg1">
              <a:lumMod val="95000"/>
            </a:schemeClr>
          </a:solidFill>
          <a:ln w="25400">
            <a:noFill/>
          </a:ln>
          <a:effectLst/>
        </p:spPr>
        <p:txBody>
          <a:bodyPr anchor="ctr"/>
          <a:lstStyle>
            <a:lvl1pPr marL="0" indent="0" algn="ctr">
              <a:buFontTx/>
              <a:buNone/>
              <a:defRPr sz="1200">
                <a:solidFill>
                  <a:schemeClr val="tx1">
                    <a:lumMod val="75000"/>
                    <a:lumOff val="25000"/>
                  </a:schemeClr>
                </a:solidFill>
                <a:latin typeface="+mn-lt"/>
                <a:cs typeface="Arial" pitchFamily="34" charset="0"/>
              </a:defRPr>
            </a:lvl1pPr>
          </a:lstStyle>
          <a:p>
            <a:r>
              <a:rPr lang="en-US" altLang="ko-KR" dirty="0"/>
              <a:t>Place Your Picture Here</a:t>
            </a:r>
            <a:endParaRPr lang="ko-KR" altLang="en-US" dirty="0"/>
          </a:p>
        </p:txBody>
      </p:sp>
      <p:sp>
        <p:nvSpPr>
          <p:cNvPr id="14" name="Rectangle 2">
            <a:extLst>
              <a:ext uri="{FF2B5EF4-FFF2-40B4-BE49-F238E27FC236}">
                <a16:creationId xmlns:a16="http://schemas.microsoft.com/office/drawing/2014/main" id="{32C4D9B9-54CB-44C0-A88C-612776CE2A23}"/>
              </a:ext>
            </a:extLst>
          </p:cNvPr>
          <p:cNvSpPr/>
          <p:nvPr userDrawn="1"/>
        </p:nvSpPr>
        <p:spPr>
          <a:xfrm>
            <a:off x="4927188" y="1411084"/>
            <a:ext cx="960107" cy="1344149"/>
          </a:xfrm>
          <a:custGeom>
            <a:avLst/>
            <a:gdLst/>
            <a:ahLst/>
            <a:cxnLst/>
            <a:rect l="l" t="t" r="r" b="b"/>
            <a:pathLst>
              <a:path w="720080" h="1008112">
                <a:moveTo>
                  <a:pt x="0" y="0"/>
                </a:moveTo>
                <a:lnTo>
                  <a:pt x="720080" y="0"/>
                </a:lnTo>
                <a:lnTo>
                  <a:pt x="720080" y="63541"/>
                </a:lnTo>
                <a:lnTo>
                  <a:pt x="72008" y="63541"/>
                </a:lnTo>
                <a:lnTo>
                  <a:pt x="72008" y="1008112"/>
                </a:lnTo>
                <a:lnTo>
                  <a:pt x="0" y="1008112"/>
                </a:lnTo>
                <a:close/>
              </a:path>
            </a:pathLst>
          </a:custGeom>
          <a:solidFill>
            <a:srgbClr val="B4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200">
              <a:latin typeface="+mn-lt"/>
            </a:endParaRPr>
          </a:p>
        </p:txBody>
      </p:sp>
      <p:sp>
        <p:nvSpPr>
          <p:cNvPr id="15" name="Rectangle 4">
            <a:extLst>
              <a:ext uri="{FF2B5EF4-FFF2-40B4-BE49-F238E27FC236}">
                <a16:creationId xmlns:a16="http://schemas.microsoft.com/office/drawing/2014/main" id="{1CF1CE83-7ED4-F4F4-1C50-ED9787E8E5FB}"/>
              </a:ext>
            </a:extLst>
          </p:cNvPr>
          <p:cNvSpPr/>
          <p:nvPr userDrawn="1"/>
        </p:nvSpPr>
        <p:spPr>
          <a:xfrm>
            <a:off x="7736579" y="3544369"/>
            <a:ext cx="2408255" cy="576064"/>
          </a:xfrm>
          <a:custGeom>
            <a:avLst/>
            <a:gdLst/>
            <a:ahLst/>
            <a:cxnLst/>
            <a:rect l="l" t="t" r="r" b="b"/>
            <a:pathLst>
              <a:path w="2258309" h="432048">
                <a:moveTo>
                  <a:pt x="2177175" y="0"/>
                </a:moveTo>
                <a:lnTo>
                  <a:pt x="2258309" y="0"/>
                </a:lnTo>
                <a:lnTo>
                  <a:pt x="2258309" y="432048"/>
                </a:lnTo>
                <a:lnTo>
                  <a:pt x="0" y="432048"/>
                </a:lnTo>
                <a:lnTo>
                  <a:pt x="0" y="343106"/>
                </a:lnTo>
                <a:lnTo>
                  <a:pt x="2177175" y="343106"/>
                </a:lnTo>
                <a:close/>
              </a:path>
            </a:pathLst>
          </a:custGeom>
          <a:solidFill>
            <a:srgbClr val="B4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ko-KR" altLang="en-US" sz="1200">
              <a:latin typeface="+mn-lt"/>
            </a:endParaRPr>
          </a:p>
        </p:txBody>
      </p:sp>
      <p:sp>
        <p:nvSpPr>
          <p:cNvPr id="16" name="그림 개체 틀 2">
            <a:extLst>
              <a:ext uri="{FF2B5EF4-FFF2-40B4-BE49-F238E27FC236}">
                <a16:creationId xmlns:a16="http://schemas.microsoft.com/office/drawing/2014/main" id="{7382BF16-1FC9-C3A0-00BE-EA19F139DEA6}"/>
              </a:ext>
            </a:extLst>
          </p:cNvPr>
          <p:cNvSpPr>
            <a:spLocks noGrp="1"/>
          </p:cNvSpPr>
          <p:nvPr>
            <p:ph type="pic" sz="quarter" idx="14" hasCustomPrompt="1"/>
          </p:nvPr>
        </p:nvSpPr>
        <p:spPr>
          <a:xfrm>
            <a:off x="7736579" y="1492009"/>
            <a:ext cx="2316874" cy="2520865"/>
          </a:xfrm>
          <a:prstGeom prst="rect">
            <a:avLst/>
          </a:prstGeom>
          <a:solidFill>
            <a:schemeClr val="bg1">
              <a:lumMod val="95000"/>
            </a:schemeClr>
          </a:solidFill>
          <a:ln w="25400">
            <a:noFill/>
          </a:ln>
          <a:effectLst/>
        </p:spPr>
        <p:txBody>
          <a:bodyPr anchor="ctr"/>
          <a:lstStyle>
            <a:lvl1pPr marL="0" indent="0" algn="ctr">
              <a:buFontTx/>
              <a:buNone/>
              <a:defRPr sz="1200">
                <a:solidFill>
                  <a:schemeClr val="tx1">
                    <a:lumMod val="75000"/>
                    <a:lumOff val="25000"/>
                  </a:schemeClr>
                </a:solidFill>
                <a:latin typeface="+mn-lt"/>
                <a:cs typeface="Arial" pitchFamily="34" charset="0"/>
              </a:defRPr>
            </a:lvl1pPr>
          </a:lstStyle>
          <a:p>
            <a:r>
              <a:rPr lang="en-US" altLang="ko-KR" dirty="0"/>
              <a:t>Place Your Picture Here</a:t>
            </a:r>
            <a:endParaRPr lang="ko-KR" altLang="en-US" dirty="0"/>
          </a:p>
        </p:txBody>
      </p:sp>
      <p:sp>
        <p:nvSpPr>
          <p:cNvPr id="17" name="Rectangle 2">
            <a:extLst>
              <a:ext uri="{FF2B5EF4-FFF2-40B4-BE49-F238E27FC236}">
                <a16:creationId xmlns:a16="http://schemas.microsoft.com/office/drawing/2014/main" id="{CB1469A0-00A2-96D5-E31F-0B60F2A2F5B5}"/>
              </a:ext>
            </a:extLst>
          </p:cNvPr>
          <p:cNvSpPr/>
          <p:nvPr userDrawn="1"/>
        </p:nvSpPr>
        <p:spPr>
          <a:xfrm>
            <a:off x="7645198" y="1411084"/>
            <a:ext cx="960107" cy="1344149"/>
          </a:xfrm>
          <a:custGeom>
            <a:avLst/>
            <a:gdLst/>
            <a:ahLst/>
            <a:cxnLst/>
            <a:rect l="l" t="t" r="r" b="b"/>
            <a:pathLst>
              <a:path w="720080" h="1008112">
                <a:moveTo>
                  <a:pt x="0" y="0"/>
                </a:moveTo>
                <a:lnTo>
                  <a:pt x="720080" y="0"/>
                </a:lnTo>
                <a:lnTo>
                  <a:pt x="720080" y="63541"/>
                </a:lnTo>
                <a:lnTo>
                  <a:pt x="72008" y="63541"/>
                </a:lnTo>
                <a:lnTo>
                  <a:pt x="72008" y="1008112"/>
                </a:lnTo>
                <a:lnTo>
                  <a:pt x="0" y="1008112"/>
                </a:lnTo>
                <a:close/>
              </a:path>
            </a:pathLst>
          </a:custGeom>
          <a:solidFill>
            <a:srgbClr val="B4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200">
              <a:latin typeface="+mn-lt"/>
            </a:endParaRPr>
          </a:p>
        </p:txBody>
      </p:sp>
    </p:spTree>
    <p:extLst>
      <p:ext uri="{BB962C8B-B14F-4D97-AF65-F5344CB8AC3E}">
        <p14:creationId xmlns:p14="http://schemas.microsoft.com/office/powerpoint/2010/main" val="29713539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B6F2A95-C7FF-4F8F-B377-C4DC7475983F}" type="datetimeFigureOut">
              <a:rPr lang="en-US" smtClean="0"/>
              <a:t>29-Oct-25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F0879EE-7A3A-457A-A725-E11BC5828D5E}" type="slidenum">
              <a:rPr lang="en-US" smtClean="0"/>
              <a:t>‹#›</a:t>
            </a:fld>
            <a:endParaRPr lang="en-US"/>
          </a:p>
        </p:txBody>
      </p:sp>
      <p:sp>
        <p:nvSpPr>
          <p:cNvPr id="7" name="MSIPCMContentMarking" descr="{&quot;HashCode&quot;:-601688020,&quot;Placement&quot;:&quot;Footer&quot;,&quot;Top&quot;:519.343,&quot;Left&quot;:906.419739,&quot;SlideWidth&quot;:960,&quot;SlideHeight&quot;:540}">
            <a:extLst>
              <a:ext uri="{FF2B5EF4-FFF2-40B4-BE49-F238E27FC236}">
                <a16:creationId xmlns:a16="http://schemas.microsoft.com/office/drawing/2014/main" id="{E4870517-114C-23D6-84B3-62520EED1511}"/>
              </a:ext>
            </a:extLst>
          </p:cNvPr>
          <p:cNvSpPr txBox="1"/>
          <p:nvPr userDrawn="1"/>
        </p:nvSpPr>
        <p:spPr>
          <a:xfrm>
            <a:off x="11511531" y="6595656"/>
            <a:ext cx="680469" cy="262344"/>
          </a:xfrm>
          <a:prstGeom prst="rect">
            <a:avLst/>
          </a:prstGeom>
          <a:noFill/>
        </p:spPr>
        <p:txBody>
          <a:bodyPr vert="horz" wrap="square" lIns="0" tIns="0" rIns="0" bIns="0" rtlCol="0" anchor="ctr" anchorCtr="1">
            <a:spAutoFit/>
          </a:bodyPr>
          <a:lstStyle/>
          <a:p>
            <a:pPr algn="r">
              <a:spcBef>
                <a:spcPts val="0"/>
              </a:spcBef>
              <a:spcAft>
                <a:spcPts val="0"/>
              </a:spcAft>
            </a:pPr>
            <a:r>
              <a:rPr lang="en-US" sz="1000">
                <a:solidFill>
                  <a:srgbClr val="000000"/>
                </a:solidFill>
                <a:latin typeface="Calibri" panose="020F0502020204030204" pitchFamily="34" charset="0"/>
              </a:rPr>
              <a:t>General</a:t>
            </a:r>
          </a:p>
        </p:txBody>
      </p:sp>
    </p:spTree>
    <p:extLst>
      <p:ext uri="{BB962C8B-B14F-4D97-AF65-F5344CB8AC3E}">
        <p14:creationId xmlns:p14="http://schemas.microsoft.com/office/powerpoint/2010/main" val="279693202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1" r:id="rId12"/>
    <p:sldLayoutId id="2147483667"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emf"/><Relationship Id="rId1" Type="http://schemas.openxmlformats.org/officeDocument/2006/relationships/slideLayout" Target="../slideLayouts/slideLayout1.xml"/><Relationship Id="rId4" Type="http://schemas.openxmlformats.org/officeDocument/2006/relationships/image" Target="../media/image6.emf"/></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10.jpg"/><Relationship Id="rId4" Type="http://schemas.openxmlformats.org/officeDocument/2006/relationships/image" Target="../media/image9.jpg"/></Relationships>
</file>

<file path=ppt/slides/_rels/slide7.xml.rels><?xml version="1.0" encoding="UTF-8" standalone="yes"?>
<Relationships xmlns="http://schemas.openxmlformats.org/package/2006/relationships"><Relationship Id="rId3" Type="http://schemas.openxmlformats.org/officeDocument/2006/relationships/hyperlink" Target="https://loop-x.co/" TargetMode="External"/><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13.jpg"/><Relationship Id="rId4" Type="http://schemas.openxmlformats.org/officeDocument/2006/relationships/image" Target="../media/image12.jpg"/></Relationships>
</file>

<file path=ppt/slides/_rels/slide15.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5.jpg"/></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17.xml"/><Relationship Id="rId1" Type="http://schemas.openxmlformats.org/officeDocument/2006/relationships/slideLayout" Target="../slideLayouts/slideLayout1.xml"/><Relationship Id="rId5" Type="http://schemas.openxmlformats.org/officeDocument/2006/relationships/hyperlink" Target="https://www.linkedin.com/in/omar-abdallah-abdelrahman/" TargetMode="External"/><Relationship Id="rId4" Type="http://schemas.openxmlformats.org/officeDocument/2006/relationships/image" Target="../media/image6.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p:cNvPicPr>
            <a:picLocks noChangeAspect="1"/>
          </p:cNvPicPr>
          <p:nvPr/>
        </p:nvPicPr>
        <p:blipFill>
          <a:blip r:embed="rId2"/>
          <a:stretch>
            <a:fillRect/>
          </a:stretch>
        </p:blipFill>
        <p:spPr>
          <a:xfrm>
            <a:off x="-215827" y="-91578"/>
            <a:ext cx="12623655" cy="7100791"/>
          </a:xfrm>
          <a:prstGeom prst="rect">
            <a:avLst/>
          </a:prstGeom>
        </p:spPr>
      </p:pic>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023686" y="844000"/>
            <a:ext cx="2144628" cy="1266733"/>
          </a:xfrm>
          <a:prstGeom prst="rect">
            <a:avLst/>
          </a:prstGeom>
        </p:spPr>
      </p:pic>
      <p:pic>
        <p:nvPicPr>
          <p:cNvPr id="12" name="Picture 11"/>
          <p:cNvPicPr>
            <a:picLocks noChangeAspect="1"/>
          </p:cNvPicPr>
          <p:nvPr/>
        </p:nvPicPr>
        <p:blipFill>
          <a:blip r:embed="rId4">
            <a:lum contrast="-20000"/>
          </a:blip>
          <a:stretch>
            <a:fillRect/>
          </a:stretch>
        </p:blipFill>
        <p:spPr>
          <a:xfrm>
            <a:off x="-107577" y="5664506"/>
            <a:ext cx="12407155" cy="903709"/>
          </a:xfrm>
          <a:prstGeom prst="rect">
            <a:avLst/>
          </a:prstGeom>
        </p:spPr>
      </p:pic>
      <p:sp>
        <p:nvSpPr>
          <p:cNvPr id="4" name="Title 3">
            <a:extLst>
              <a:ext uri="{FF2B5EF4-FFF2-40B4-BE49-F238E27FC236}">
                <a16:creationId xmlns:a16="http://schemas.microsoft.com/office/drawing/2014/main" id="{390917CF-13CA-4F45-8039-A6E9346B50ED}"/>
              </a:ext>
            </a:extLst>
          </p:cNvPr>
          <p:cNvSpPr>
            <a:spLocks noGrp="1"/>
          </p:cNvSpPr>
          <p:nvPr>
            <p:ph type="ctrTitle"/>
          </p:nvPr>
        </p:nvSpPr>
        <p:spPr>
          <a:xfrm>
            <a:off x="1103243" y="3087071"/>
            <a:ext cx="9985513" cy="903709"/>
          </a:xfrm>
        </p:spPr>
        <p:txBody>
          <a:bodyPr>
            <a:normAutofit/>
          </a:bodyPr>
          <a:lstStyle/>
          <a:p>
            <a:r>
              <a:rPr lang="en-US" sz="4400" b="1" dirty="0">
                <a:solidFill>
                  <a:schemeClr val="bg1"/>
                </a:solidFill>
                <a:effectLst>
                  <a:outerShdw blurRad="38100" dist="38100" dir="2700000" algn="tl">
                    <a:srgbClr val="000000">
                      <a:alpha val="43137"/>
                    </a:srgbClr>
                  </a:outerShdw>
                </a:effectLst>
                <a:latin typeface="Candara bold" panose="020E0702030303020204" pitchFamily="34" charset="0"/>
              </a:rPr>
              <a:t>Vibe coding (AI Coding </a:t>
            </a:r>
            <a:r>
              <a:rPr lang="en-US" sz="4400" b="1">
                <a:solidFill>
                  <a:schemeClr val="bg1"/>
                </a:solidFill>
                <a:effectLst>
                  <a:outerShdw blurRad="38100" dist="38100" dir="2700000" algn="tl">
                    <a:srgbClr val="000000">
                      <a:alpha val="43137"/>
                    </a:srgbClr>
                  </a:outerShdw>
                </a:effectLst>
                <a:latin typeface="Candara bold" panose="020E0702030303020204" pitchFamily="34" charset="0"/>
              </a:rPr>
              <a:t>Assistant Tools)</a:t>
            </a:r>
            <a:endParaRPr lang="en-US" sz="4400" b="1" dirty="0">
              <a:solidFill>
                <a:schemeClr val="bg1"/>
              </a:solidFill>
              <a:effectLst>
                <a:outerShdw blurRad="38100" dist="38100" dir="2700000" algn="tl">
                  <a:srgbClr val="000000">
                    <a:alpha val="43137"/>
                  </a:srgbClr>
                </a:outerShdw>
              </a:effectLst>
              <a:latin typeface="Candara bold" panose="020E0702030303020204" pitchFamily="34" charset="0"/>
              <a:cs typeface="Cairo" panose="00000500000000000000" pitchFamily="2" charset="-78"/>
            </a:endParaRPr>
          </a:p>
        </p:txBody>
      </p:sp>
      <p:sp>
        <p:nvSpPr>
          <p:cNvPr id="2" name="TextBox 1">
            <a:extLst>
              <a:ext uri="{FF2B5EF4-FFF2-40B4-BE49-F238E27FC236}">
                <a16:creationId xmlns:a16="http://schemas.microsoft.com/office/drawing/2014/main" id="{48A77966-6049-7D5E-7586-8996187D90E0}"/>
              </a:ext>
            </a:extLst>
          </p:cNvPr>
          <p:cNvSpPr txBox="1"/>
          <p:nvPr/>
        </p:nvSpPr>
        <p:spPr>
          <a:xfrm>
            <a:off x="10072528" y="4973312"/>
            <a:ext cx="2012578" cy="1200329"/>
          </a:xfrm>
          <a:prstGeom prst="rect">
            <a:avLst/>
          </a:prstGeom>
          <a:noFill/>
        </p:spPr>
        <p:txBody>
          <a:bodyPr wrap="square" rtlCol="0">
            <a:spAutoFit/>
          </a:bodyPr>
          <a:lstStyle/>
          <a:p>
            <a:pPr algn="ctr"/>
            <a:r>
              <a:rPr lang="en-US" b="1" dirty="0">
                <a:solidFill>
                  <a:schemeClr val="bg1"/>
                </a:solidFill>
              </a:rPr>
              <a:t>Hany Saad</a:t>
            </a:r>
          </a:p>
          <a:p>
            <a:pPr algn="ctr"/>
            <a:r>
              <a:rPr lang="en-US" b="1" dirty="0">
                <a:solidFill>
                  <a:schemeClr val="bg1"/>
                </a:solidFill>
              </a:rPr>
              <a:t>hghiett@iti.gov.eg</a:t>
            </a:r>
          </a:p>
          <a:p>
            <a:pPr algn="ctr"/>
            <a:endParaRPr lang="en-US" b="1" dirty="0">
              <a:solidFill>
                <a:schemeClr val="bg1"/>
              </a:solidFill>
            </a:endParaRPr>
          </a:p>
          <a:p>
            <a:endParaRPr lang="en-US" b="1" dirty="0">
              <a:solidFill>
                <a:schemeClr val="bg1"/>
              </a:solidFill>
            </a:endParaRPr>
          </a:p>
        </p:txBody>
      </p:sp>
      <p:sp>
        <p:nvSpPr>
          <p:cNvPr id="3" name="TextBox 2">
            <a:extLst>
              <a:ext uri="{FF2B5EF4-FFF2-40B4-BE49-F238E27FC236}">
                <a16:creationId xmlns:a16="http://schemas.microsoft.com/office/drawing/2014/main" id="{1E3FC7A8-4951-7A21-3398-2E7B0F71F5BC}"/>
              </a:ext>
            </a:extLst>
          </p:cNvPr>
          <p:cNvSpPr txBox="1"/>
          <p:nvPr/>
        </p:nvSpPr>
        <p:spPr>
          <a:xfrm>
            <a:off x="106894" y="4973312"/>
            <a:ext cx="2636306" cy="1200329"/>
          </a:xfrm>
          <a:prstGeom prst="rect">
            <a:avLst/>
          </a:prstGeom>
          <a:noFill/>
        </p:spPr>
        <p:txBody>
          <a:bodyPr wrap="square" rtlCol="0">
            <a:spAutoFit/>
          </a:bodyPr>
          <a:lstStyle/>
          <a:p>
            <a:pPr algn="ctr"/>
            <a:r>
              <a:rPr lang="en-US" b="1" dirty="0">
                <a:solidFill>
                  <a:schemeClr val="bg1"/>
                </a:solidFill>
              </a:rPr>
              <a:t>Omar Abdallah</a:t>
            </a:r>
          </a:p>
          <a:p>
            <a:pPr algn="ctr"/>
            <a:r>
              <a:rPr lang="en-US" b="1" dirty="0">
                <a:solidFill>
                  <a:schemeClr val="bg1"/>
                </a:solidFill>
              </a:rPr>
              <a:t>ommohamed@iti.gov.eg</a:t>
            </a:r>
          </a:p>
          <a:p>
            <a:pPr algn="ctr"/>
            <a:endParaRPr lang="en-US" b="1" dirty="0">
              <a:solidFill>
                <a:schemeClr val="bg1"/>
              </a:solidFill>
            </a:endParaRPr>
          </a:p>
          <a:p>
            <a:endParaRPr lang="en-US" b="1" dirty="0">
              <a:solidFill>
                <a:schemeClr val="bg1"/>
              </a:solidFill>
            </a:endParaRPr>
          </a:p>
        </p:txBody>
      </p:sp>
    </p:spTree>
    <p:extLst>
      <p:ext uri="{BB962C8B-B14F-4D97-AF65-F5344CB8AC3E}">
        <p14:creationId xmlns:p14="http://schemas.microsoft.com/office/powerpoint/2010/main" val="22498487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C7EA65-4AD4-9268-BF9E-FBC18324BFDB}"/>
              </a:ext>
            </a:extLst>
          </p:cNvPr>
          <p:cNvSpPr>
            <a:spLocks noGrp="1"/>
          </p:cNvSpPr>
          <p:nvPr>
            <p:ph type="title"/>
          </p:nvPr>
        </p:nvSpPr>
        <p:spPr/>
        <p:txBody>
          <a:bodyPr anchor="ctr"/>
          <a:lstStyle/>
          <a:p>
            <a:pPr algn="l"/>
            <a:r>
              <a:rPr lang="en-US" dirty="0"/>
              <a:t>AI-Powered Coding Assistant Tools</a:t>
            </a:r>
          </a:p>
        </p:txBody>
      </p:sp>
      <p:sp>
        <p:nvSpPr>
          <p:cNvPr id="6" name="TextBox 5">
            <a:extLst>
              <a:ext uri="{FF2B5EF4-FFF2-40B4-BE49-F238E27FC236}">
                <a16:creationId xmlns:a16="http://schemas.microsoft.com/office/drawing/2014/main" id="{28673627-F7E9-754B-14A5-5F025E1549A0}"/>
              </a:ext>
            </a:extLst>
          </p:cNvPr>
          <p:cNvSpPr txBox="1"/>
          <p:nvPr/>
        </p:nvSpPr>
        <p:spPr>
          <a:xfrm>
            <a:off x="795133" y="1655859"/>
            <a:ext cx="10472928" cy="4401205"/>
          </a:xfrm>
          <a:prstGeom prst="rect">
            <a:avLst/>
          </a:prstGeom>
          <a:noFill/>
        </p:spPr>
        <p:txBody>
          <a:bodyPr wrap="square" rtlCol="0">
            <a:spAutoFit/>
          </a:bodyPr>
          <a:lstStyle/>
          <a:p>
            <a:r>
              <a:rPr lang="en-US" sz="2400" b="1" dirty="0"/>
              <a:t>Course Title:</a:t>
            </a:r>
            <a:r>
              <a:rPr lang="en-US" dirty="0"/>
              <a:t> </a:t>
            </a:r>
            <a:r>
              <a:rPr lang="en-US" sz="2000" dirty="0"/>
              <a:t>AI-Powered Coding Assistant Tools</a:t>
            </a:r>
          </a:p>
          <a:p>
            <a:endParaRPr lang="en-US" sz="2000" dirty="0"/>
          </a:p>
          <a:p>
            <a:endParaRPr lang="en-US" sz="2000" dirty="0"/>
          </a:p>
          <a:p>
            <a:r>
              <a:rPr lang="en-US" sz="2400" b="1" dirty="0"/>
              <a:t>Duration:</a:t>
            </a:r>
            <a:r>
              <a:rPr lang="en-US" sz="2000" dirty="0"/>
              <a:t> 6 Hours ( Lecture + Lab )</a:t>
            </a:r>
          </a:p>
          <a:p>
            <a:endParaRPr lang="en-US" sz="2000" dirty="0"/>
          </a:p>
          <a:p>
            <a:endParaRPr lang="en-US" sz="2000" dirty="0"/>
          </a:p>
          <a:p>
            <a:r>
              <a:rPr lang="en-US" sz="2400" b="1" dirty="0"/>
              <a:t>Evaluation:</a:t>
            </a:r>
            <a:r>
              <a:rPr lang="en-US" sz="2000" dirty="0"/>
              <a:t> Attendance + Task</a:t>
            </a:r>
          </a:p>
          <a:p>
            <a:endParaRPr lang="en-US" sz="2000" dirty="0"/>
          </a:p>
          <a:p>
            <a:endParaRPr lang="en-US" sz="2000" dirty="0"/>
          </a:p>
          <a:p>
            <a:r>
              <a:rPr lang="en-US" sz="2400" b="1" dirty="0"/>
              <a:t>Prerequisites:</a:t>
            </a:r>
          </a:p>
          <a:p>
            <a:pPr marL="800100" lvl="1" indent="-342900">
              <a:buFont typeface="Arial" panose="020B0604020202020204" pitchFamily="34" charset="0"/>
              <a:buChar char="•"/>
            </a:pPr>
            <a:r>
              <a:rPr lang="en-US" sz="2000" dirty="0"/>
              <a:t>Intro to Generative AI and Prompt Engineering</a:t>
            </a:r>
          </a:p>
          <a:p>
            <a:pPr marL="800100" lvl="1" indent="-342900">
              <a:buFont typeface="Arial" panose="020B0604020202020204" pitchFamily="34" charset="0"/>
              <a:buChar char="•"/>
            </a:pPr>
            <a:r>
              <a:rPr lang="en-US" sz="2000" dirty="0"/>
              <a:t>Core Programming Courses</a:t>
            </a:r>
          </a:p>
          <a:p>
            <a:r>
              <a:rPr lang="en-US" sz="2400" b="1" dirty="0"/>
              <a:t>	</a:t>
            </a:r>
            <a:endParaRPr lang="en-US" sz="2000" b="1" dirty="0"/>
          </a:p>
        </p:txBody>
      </p:sp>
    </p:spTree>
    <p:extLst>
      <p:ext uri="{BB962C8B-B14F-4D97-AF65-F5344CB8AC3E}">
        <p14:creationId xmlns:p14="http://schemas.microsoft.com/office/powerpoint/2010/main" val="15245968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D993C8-AE52-255B-3750-2AF8B1861CA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825D664-B717-604C-B3B3-710BC2B2183F}"/>
              </a:ext>
            </a:extLst>
          </p:cNvPr>
          <p:cNvSpPr>
            <a:spLocks noGrp="1"/>
          </p:cNvSpPr>
          <p:nvPr>
            <p:ph type="title"/>
          </p:nvPr>
        </p:nvSpPr>
        <p:spPr/>
        <p:txBody>
          <a:bodyPr anchor="ctr"/>
          <a:lstStyle/>
          <a:p>
            <a:pPr algn="l"/>
            <a:r>
              <a:rPr lang="en-US" dirty="0"/>
              <a:t>AI-Powered Coding Assistant Tools</a:t>
            </a:r>
          </a:p>
        </p:txBody>
      </p:sp>
      <p:sp>
        <p:nvSpPr>
          <p:cNvPr id="6" name="TextBox 5">
            <a:extLst>
              <a:ext uri="{FF2B5EF4-FFF2-40B4-BE49-F238E27FC236}">
                <a16:creationId xmlns:a16="http://schemas.microsoft.com/office/drawing/2014/main" id="{6D105F88-C85E-62AA-208B-35A1C252D646}"/>
              </a:ext>
            </a:extLst>
          </p:cNvPr>
          <p:cNvSpPr txBox="1"/>
          <p:nvPr/>
        </p:nvSpPr>
        <p:spPr>
          <a:xfrm>
            <a:off x="795133" y="1572768"/>
            <a:ext cx="10472928" cy="4216539"/>
          </a:xfrm>
          <a:prstGeom prst="rect">
            <a:avLst/>
          </a:prstGeom>
          <a:noFill/>
        </p:spPr>
        <p:txBody>
          <a:bodyPr wrap="square" rtlCol="0">
            <a:spAutoFit/>
          </a:bodyPr>
          <a:lstStyle/>
          <a:p>
            <a:r>
              <a:rPr lang="en-US" sz="2400" b="1" dirty="0">
                <a:latin typeface="Segoe UI" panose="020B0502040204020203" pitchFamily="34" charset="0"/>
                <a:cs typeface="Segoe UI" panose="020B0502040204020203" pitchFamily="34" charset="0"/>
              </a:rPr>
              <a:t>Outlines:</a:t>
            </a:r>
          </a:p>
          <a:p>
            <a:endParaRPr lang="en-US" sz="2400" b="1" dirty="0">
              <a:latin typeface="Segoe UI" panose="020B0502040204020203" pitchFamily="34" charset="0"/>
              <a:cs typeface="Segoe UI" panose="020B0502040204020203" pitchFamily="34" charset="0"/>
            </a:endParaRPr>
          </a:p>
          <a:p>
            <a:pPr marL="800100" lvl="1" indent="-342900">
              <a:buFont typeface="Arial" panose="020B0604020202020204" pitchFamily="34" charset="0"/>
              <a:buChar char="•"/>
            </a:pPr>
            <a:r>
              <a:rPr lang="en-US" sz="2000" dirty="0">
                <a:solidFill>
                  <a:srgbClr val="000000"/>
                </a:solidFill>
                <a:effectLst/>
                <a:latin typeface="Segoe UI" panose="020B0502040204020203" pitchFamily="34" charset="0"/>
                <a:ea typeface="Segoe UI" panose="020B0502040204020203" pitchFamily="34" charset="0"/>
                <a:cs typeface="Segoe UI" panose="020B0502040204020203" pitchFamily="34" charset="0"/>
              </a:rPr>
              <a:t>Intro to AI-powered Coding Assistant tools</a:t>
            </a:r>
          </a:p>
          <a:p>
            <a:pPr lvl="1"/>
            <a:endParaRPr lang="en-US" sz="2000" dirty="0">
              <a:latin typeface="Segoe UI" panose="020B0502040204020203" pitchFamily="34" charset="0"/>
              <a:cs typeface="Segoe UI" panose="020B0502040204020203" pitchFamily="34" charset="0"/>
            </a:endParaRPr>
          </a:p>
          <a:p>
            <a:pPr marL="800100" lvl="1" indent="-342900">
              <a:buFont typeface="Arial" panose="020B0604020202020204" pitchFamily="34" charset="0"/>
              <a:buChar char="•"/>
            </a:pPr>
            <a:r>
              <a:rPr lang="en-US" sz="2000" dirty="0">
                <a:latin typeface="Segoe UI" panose="020B0502040204020203" pitchFamily="34" charset="0"/>
                <a:cs typeface="Segoe UI" panose="020B0502040204020203" pitchFamily="34" charset="0"/>
              </a:rPr>
              <a:t>B</a:t>
            </a:r>
            <a:r>
              <a:rPr lang="en-US" sz="2000" dirty="0">
                <a:solidFill>
                  <a:srgbClr val="000000"/>
                </a:solidFill>
                <a:effectLst/>
                <a:latin typeface="Segoe UI" panose="020B0502040204020203" pitchFamily="34" charset="0"/>
                <a:ea typeface="Segoe UI" panose="020B0502040204020203" pitchFamily="34" charset="0"/>
                <a:cs typeface="Segoe UI" panose="020B0502040204020203" pitchFamily="34" charset="0"/>
              </a:rPr>
              <a:t>enefits, limitations and security considerations.</a:t>
            </a:r>
          </a:p>
          <a:p>
            <a:pPr lvl="1"/>
            <a:endParaRPr lang="en-US" sz="2000" dirty="0">
              <a:solidFill>
                <a:srgbClr val="000000"/>
              </a:solidFill>
              <a:effectLst/>
              <a:latin typeface="Segoe UI" panose="020B0502040204020203" pitchFamily="34" charset="0"/>
              <a:ea typeface="Segoe UI" panose="020B0502040204020203" pitchFamily="34" charset="0"/>
              <a:cs typeface="Segoe UI" panose="020B0502040204020203" pitchFamily="34" charset="0"/>
            </a:endParaRPr>
          </a:p>
          <a:p>
            <a:pPr marL="800100" lvl="1" indent="-342900">
              <a:buFont typeface="Arial" panose="020B0604020202020204" pitchFamily="34" charset="0"/>
              <a:buChar char="•"/>
            </a:pPr>
            <a:r>
              <a:rPr lang="en-US" sz="2000" dirty="0">
                <a:solidFill>
                  <a:srgbClr val="000000"/>
                </a:solidFill>
                <a:latin typeface="Segoe UI" panose="020B0502040204020203" pitchFamily="34" charset="0"/>
                <a:cs typeface="Segoe UI" panose="020B0502040204020203" pitchFamily="34" charset="0"/>
              </a:rPr>
              <a:t>Exploring GitHub Copilot features:</a:t>
            </a:r>
          </a:p>
          <a:p>
            <a:pPr marL="1200150" lvl="2" indent="-285750">
              <a:buFont typeface="Wingdings" panose="05000000000000000000" pitchFamily="2" charset="2"/>
              <a:buChar char="v"/>
            </a:pPr>
            <a:r>
              <a:rPr lang="en-US" dirty="0">
                <a:solidFill>
                  <a:srgbClr val="000000"/>
                </a:solidFill>
                <a:latin typeface="Segoe UI" panose="020B0502040204020203" pitchFamily="34" charset="0"/>
                <a:cs typeface="Segoe UI" panose="020B0502040204020203" pitchFamily="34" charset="0"/>
              </a:rPr>
              <a:t>Code auto-completion, Copilot Chat, </a:t>
            </a:r>
            <a:r>
              <a:rPr lang="en-US" dirty="0">
                <a:solidFill>
                  <a:srgbClr val="000000"/>
                </a:solidFill>
                <a:effectLst/>
                <a:latin typeface="Segoe UI" panose="020B0502040204020203" pitchFamily="34" charset="0"/>
                <a:ea typeface="Segoe UI" panose="020B0502040204020203" pitchFamily="34" charset="0"/>
                <a:cs typeface="Segoe UI" panose="020B0502040204020203" pitchFamily="34" charset="0"/>
              </a:rPr>
              <a:t>, Multi-file edits, Copilot Workspace</a:t>
            </a:r>
            <a:r>
              <a:rPr lang="en-US" sz="2000" dirty="0">
                <a:solidFill>
                  <a:srgbClr val="000000"/>
                </a:solidFill>
                <a:effectLst/>
                <a:latin typeface="Segoe UI" panose="020B0502040204020203" pitchFamily="34" charset="0"/>
                <a:ea typeface="Segoe UI" panose="020B0502040204020203" pitchFamily="34" charset="0"/>
                <a:cs typeface="Segoe UI" panose="020B0502040204020203" pitchFamily="34" charset="0"/>
              </a:rPr>
              <a:t>.</a:t>
            </a:r>
          </a:p>
          <a:p>
            <a:pPr lvl="2"/>
            <a:endParaRPr lang="en-US" sz="2000" dirty="0">
              <a:solidFill>
                <a:srgbClr val="000000"/>
              </a:solidFill>
              <a:effectLst/>
              <a:latin typeface="Segoe UI" panose="020B0502040204020203" pitchFamily="34" charset="0"/>
              <a:ea typeface="Segoe UI" panose="020B0502040204020203" pitchFamily="34" charset="0"/>
              <a:cs typeface="Segoe UI" panose="020B0502040204020203" pitchFamily="34" charset="0"/>
            </a:endParaRPr>
          </a:p>
          <a:p>
            <a:pPr marL="800100" lvl="1" indent="-342900">
              <a:buFont typeface="Arial" panose="020B0604020202020204" pitchFamily="34" charset="0"/>
              <a:buChar char="•"/>
            </a:pPr>
            <a:r>
              <a:rPr lang="en-US" sz="2000" dirty="0">
                <a:latin typeface="Segoe UI" panose="020B0502040204020203" pitchFamily="34" charset="0"/>
                <a:cs typeface="Segoe UI" panose="020B0502040204020203" pitchFamily="34" charset="0"/>
              </a:rPr>
              <a:t>Overview on another alternatives</a:t>
            </a:r>
            <a:r>
              <a:rPr lang="en-US" sz="2000" dirty="0">
                <a:solidFill>
                  <a:srgbClr val="000000"/>
                </a:solidFill>
                <a:latin typeface="Segoe UI" panose="020B0502040204020203" pitchFamily="34" charset="0"/>
                <a:cs typeface="Segoe UI" panose="020B0502040204020203" pitchFamily="34" charset="0"/>
              </a:rPr>
              <a:t>:</a:t>
            </a:r>
          </a:p>
          <a:p>
            <a:pPr marL="1257300" lvl="2" indent="-342900">
              <a:buFont typeface="Wingdings" panose="05000000000000000000" pitchFamily="2" charset="2"/>
              <a:buChar char="v"/>
            </a:pPr>
            <a:r>
              <a:rPr lang="en-US" dirty="0">
                <a:solidFill>
                  <a:srgbClr val="000000"/>
                </a:solidFill>
                <a:latin typeface="Segoe UI" panose="020B0502040204020203" pitchFamily="34" charset="0"/>
                <a:cs typeface="Segoe UI" panose="020B0502040204020203" pitchFamily="34" charset="0"/>
              </a:rPr>
              <a:t>Cursor, </a:t>
            </a:r>
            <a:r>
              <a:rPr lang="en-US" dirty="0" err="1">
                <a:solidFill>
                  <a:srgbClr val="000000"/>
                </a:solidFill>
                <a:latin typeface="Segoe UI" panose="020B0502040204020203" pitchFamily="34" charset="0"/>
                <a:cs typeface="Segoe UI" panose="020B0502040204020203" pitchFamily="34" charset="0"/>
              </a:rPr>
              <a:t>TabNine</a:t>
            </a:r>
            <a:r>
              <a:rPr lang="en-US" dirty="0">
                <a:solidFill>
                  <a:srgbClr val="000000"/>
                </a:solidFill>
                <a:latin typeface="Segoe UI" panose="020B0502040204020203" pitchFamily="34" charset="0"/>
                <a:cs typeface="Segoe UI" panose="020B0502040204020203" pitchFamily="34" charset="0"/>
              </a:rPr>
              <a:t>, …</a:t>
            </a:r>
          </a:p>
          <a:p>
            <a:pPr lvl="2"/>
            <a:endParaRPr lang="en-US" dirty="0">
              <a:solidFill>
                <a:srgbClr val="000000"/>
              </a:solidFill>
              <a:latin typeface="Segoe UI" panose="020B0502040204020203" pitchFamily="34" charset="0"/>
              <a:cs typeface="Segoe UI" panose="020B0502040204020203" pitchFamily="34" charset="0"/>
            </a:endParaRPr>
          </a:p>
          <a:p>
            <a:pPr marL="800100" lvl="1" indent="-342900">
              <a:buFont typeface="Arial" panose="020B0604020202020204" pitchFamily="34" charset="0"/>
              <a:buChar char="•"/>
            </a:pPr>
            <a:r>
              <a:rPr lang="en-US" sz="2000" dirty="0">
                <a:solidFill>
                  <a:srgbClr val="000000"/>
                </a:solidFill>
                <a:effectLst/>
                <a:latin typeface="Segoe UI" panose="020B0502040204020203" pitchFamily="34" charset="0"/>
                <a:ea typeface="Segoe UI" panose="020B0502040204020203" pitchFamily="34" charset="0"/>
                <a:cs typeface="Segoe UI" panose="020B0502040204020203" pitchFamily="34" charset="0"/>
              </a:rPr>
              <a:t>Implementing full feature on existing App using GitHub Copilot software agents. </a:t>
            </a:r>
            <a:r>
              <a:rPr lang="en-US" sz="2400" b="1" dirty="0">
                <a:latin typeface="Segoe UI" panose="020B0502040204020203" pitchFamily="34" charset="0"/>
                <a:cs typeface="Segoe UI" panose="020B0502040204020203" pitchFamily="34" charset="0"/>
              </a:rPr>
              <a:t>	</a:t>
            </a:r>
            <a:endParaRPr lang="en-US" sz="2000" b="1" dirty="0">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20792694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481238F-2071-32F3-22CE-1F3B2CC136F6}"/>
            </a:ext>
          </a:extLst>
        </p:cNvPr>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577B5333-B40E-38B6-AF40-A8AA4F02FE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25" name="Freeform: Shape 24">
            <a:extLst>
              <a:ext uri="{FF2B5EF4-FFF2-40B4-BE49-F238E27FC236}">
                <a16:creationId xmlns:a16="http://schemas.microsoft.com/office/drawing/2014/main" id="{F095822A-3571-27C6-D965-592DA1EADA9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4425" y="0"/>
            <a:ext cx="9963150"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solidFill>
              <a:srgbClr val="EFEFEF"/>
            </a:solidFill>
          </a:ln>
          <a:effectLst>
            <a:outerShdw blurRad="139700" sx="102000" sy="102000" algn="ctr" rotWithShape="0">
              <a:schemeClr val="bg1">
                <a:lumMod val="85000"/>
                <a:alpha val="3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27" name="Freeform: Shape 26">
            <a:extLst>
              <a:ext uri="{FF2B5EF4-FFF2-40B4-BE49-F238E27FC236}">
                <a16:creationId xmlns:a16="http://schemas.microsoft.com/office/drawing/2014/main" id="{CB8139C6-E051-87CE-3CE8-B43E97D4F7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1664" y="0"/>
            <a:ext cx="9948672"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Title 5">
            <a:extLst>
              <a:ext uri="{FF2B5EF4-FFF2-40B4-BE49-F238E27FC236}">
                <a16:creationId xmlns:a16="http://schemas.microsoft.com/office/drawing/2014/main" id="{24C1FE43-A86E-BE27-FF8F-4465BCE73429}"/>
              </a:ext>
            </a:extLst>
          </p:cNvPr>
          <p:cNvSpPr>
            <a:spLocks noGrp="1"/>
          </p:cNvSpPr>
          <p:nvPr>
            <p:ph type="ctrTitle"/>
          </p:nvPr>
        </p:nvSpPr>
        <p:spPr>
          <a:xfrm>
            <a:off x="1524003" y="1999615"/>
            <a:ext cx="9144000" cy="2764028"/>
          </a:xfrm>
        </p:spPr>
        <p:txBody>
          <a:bodyPr anchor="ctr">
            <a:normAutofit/>
          </a:bodyPr>
          <a:lstStyle/>
          <a:p>
            <a:r>
              <a:rPr lang="en-US" sz="6600" dirty="0"/>
              <a:t>Why do we need to know about Gen-AI?</a:t>
            </a:r>
          </a:p>
        </p:txBody>
      </p:sp>
      <p:sp>
        <p:nvSpPr>
          <p:cNvPr id="29" name="Rectangle 28">
            <a:extLst>
              <a:ext uri="{FF2B5EF4-FFF2-40B4-BE49-F238E27FC236}">
                <a16:creationId xmlns:a16="http://schemas.microsoft.com/office/drawing/2014/main" id="{BFB7E347-03FB-72DA-5E2B-C58A7798DA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18560" y="5524786"/>
            <a:ext cx="4754880" cy="2743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165346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6"/>
                                        </p:tgtEl>
                                        <p:attrNameLst>
                                          <p:attrName>style.visibility</p:attrName>
                                        </p:attrNameLst>
                                      </p:cBhvr>
                                      <p:to>
                                        <p:strVal val="visible"/>
                                      </p:to>
                                    </p:set>
                                    <p:animEffect transition="in" filter="fade">
                                      <p:cBhvr>
                                        <p:cTn id="7" dur="7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4FE0AB-F4DE-1A08-4978-968FF6985E3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1663DD1-4262-5DE6-E824-1BE752213E8A}"/>
              </a:ext>
            </a:extLst>
          </p:cNvPr>
          <p:cNvSpPr>
            <a:spLocks noGrp="1"/>
          </p:cNvSpPr>
          <p:nvPr>
            <p:ph type="title"/>
          </p:nvPr>
        </p:nvSpPr>
        <p:spPr/>
        <p:txBody>
          <a:bodyPr anchor="ctr"/>
          <a:lstStyle/>
          <a:p>
            <a:pPr algn="l"/>
            <a:r>
              <a:rPr lang="en-US" dirty="0"/>
              <a:t>Why should we learn about Gen AI?</a:t>
            </a:r>
          </a:p>
        </p:txBody>
      </p:sp>
      <p:sp>
        <p:nvSpPr>
          <p:cNvPr id="6" name="TextBox 5">
            <a:extLst>
              <a:ext uri="{FF2B5EF4-FFF2-40B4-BE49-F238E27FC236}">
                <a16:creationId xmlns:a16="http://schemas.microsoft.com/office/drawing/2014/main" id="{CB1D9BFE-8354-02EB-09A5-5933DF26FDE5}"/>
              </a:ext>
            </a:extLst>
          </p:cNvPr>
          <p:cNvSpPr txBox="1"/>
          <p:nvPr/>
        </p:nvSpPr>
        <p:spPr>
          <a:xfrm>
            <a:off x="795133" y="1500187"/>
            <a:ext cx="7751459" cy="4401205"/>
          </a:xfrm>
          <a:prstGeom prst="rect">
            <a:avLst/>
          </a:prstGeom>
          <a:noFill/>
        </p:spPr>
        <p:txBody>
          <a:bodyPr wrap="square" rtlCol="0">
            <a:spAutoFit/>
          </a:bodyPr>
          <a:lstStyle/>
          <a:p>
            <a:pPr marL="342900" indent="-342900">
              <a:buFont typeface="Arial" panose="020B0604020202020204" pitchFamily="34" charset="0"/>
              <a:buChar char="•"/>
            </a:pPr>
            <a:r>
              <a:rPr lang="en-US" sz="2000" b="1">
                <a:latin typeface="Segoe UI" panose="020B0502040204020203" pitchFamily="34" charset="0"/>
                <a:cs typeface="Segoe UI" panose="020B0502040204020203" pitchFamily="34" charset="0"/>
              </a:rPr>
              <a:t>AI / Machine Learning Developers:</a:t>
            </a:r>
            <a:r>
              <a:rPr lang="en-US" sz="2000">
                <a:latin typeface="Segoe UI" panose="020B0502040204020203" pitchFamily="34" charset="0"/>
                <a:cs typeface="Segoe UI" panose="020B0502040204020203" pitchFamily="34" charset="0"/>
              </a:rPr>
              <a:t> </a:t>
            </a:r>
          </a:p>
          <a:p>
            <a:pPr lvl="1"/>
            <a:r>
              <a:rPr lang="en-US" sz="2000">
                <a:latin typeface="Segoe UI" panose="020B0502040204020203" pitchFamily="34" charset="0"/>
                <a:cs typeface="Segoe UI" panose="020B0502040204020203" pitchFamily="34" charset="0"/>
              </a:rPr>
              <a:t>Design and refine Generative AI models to create more intelligent and efficient AI-driven solutions. </a:t>
            </a:r>
          </a:p>
          <a:p>
            <a:pPr marL="342900" indent="-342900">
              <a:buFont typeface="Arial" panose="020B0604020202020204" pitchFamily="34" charset="0"/>
              <a:buChar char="•"/>
            </a:pPr>
            <a:endParaRPr lang="en-US" sz="2000">
              <a:latin typeface="Segoe UI" panose="020B0502040204020203" pitchFamily="34" charset="0"/>
              <a:cs typeface="Segoe UI" panose="020B0502040204020203" pitchFamily="34" charset="0"/>
            </a:endParaRPr>
          </a:p>
          <a:p>
            <a:pPr marL="342900" indent="-342900">
              <a:buFont typeface="Arial" panose="020B0604020202020204" pitchFamily="34" charset="0"/>
              <a:buChar char="•"/>
            </a:pPr>
            <a:r>
              <a:rPr lang="en-US" sz="2000" b="1">
                <a:latin typeface="Segoe UI" panose="020B0502040204020203" pitchFamily="34" charset="0"/>
                <a:cs typeface="Segoe UI" panose="020B0502040204020203" pitchFamily="34" charset="0"/>
              </a:rPr>
              <a:t>Software Developers: </a:t>
            </a:r>
          </a:p>
          <a:p>
            <a:pPr marL="914400" lvl="1" indent="-457200">
              <a:buFont typeface="+mj-lt"/>
              <a:buAutoNum type="arabicPeriod"/>
            </a:pPr>
            <a:r>
              <a:rPr lang="en-US" sz="2000">
                <a:latin typeface="Segoe UI" panose="020B0502040204020203" pitchFamily="34" charset="0"/>
                <a:cs typeface="Segoe UI" panose="020B0502040204020203" pitchFamily="34" charset="0"/>
              </a:rPr>
              <a:t>Utilize AI tools to enhance productivity in development tasks.</a:t>
            </a:r>
          </a:p>
          <a:p>
            <a:pPr marL="914400" lvl="1" indent="-457200">
              <a:buFont typeface="+mj-lt"/>
              <a:buAutoNum type="arabicPeriod"/>
            </a:pPr>
            <a:r>
              <a:rPr lang="en-US" sz="2000">
                <a:latin typeface="Segoe UI" panose="020B0502040204020203" pitchFamily="34" charset="0"/>
                <a:cs typeface="Segoe UI" panose="020B0502040204020203" pitchFamily="34" charset="0"/>
              </a:rPr>
              <a:t>Leverage Generative AI APIs to build AI-powered applications </a:t>
            </a:r>
          </a:p>
          <a:p>
            <a:pPr marL="342900" indent="-342900">
              <a:buFont typeface="Arial" panose="020B0604020202020204" pitchFamily="34" charset="0"/>
              <a:buChar char="•"/>
            </a:pPr>
            <a:endParaRPr lang="en-US" sz="2000">
              <a:latin typeface="Segoe UI" panose="020B0502040204020203" pitchFamily="34" charset="0"/>
              <a:cs typeface="Segoe UI" panose="020B0502040204020203" pitchFamily="34" charset="0"/>
            </a:endParaRPr>
          </a:p>
          <a:p>
            <a:pPr marL="342900" indent="-342900">
              <a:buFont typeface="Arial" panose="020B0604020202020204" pitchFamily="34" charset="0"/>
              <a:buChar char="•"/>
            </a:pPr>
            <a:r>
              <a:rPr lang="en-US" sz="2000" b="1">
                <a:latin typeface="Segoe UI" panose="020B0502040204020203" pitchFamily="34" charset="0"/>
                <a:cs typeface="Segoe UI" panose="020B0502040204020203" pitchFamily="34" charset="0"/>
              </a:rPr>
              <a:t>Everyone</a:t>
            </a:r>
            <a:r>
              <a:rPr lang="en-US" sz="2000">
                <a:latin typeface="Segoe UI" panose="020B0502040204020203" pitchFamily="34" charset="0"/>
                <a:cs typeface="Segoe UI" panose="020B0502040204020203" pitchFamily="34" charset="0"/>
              </a:rPr>
              <a:t>: </a:t>
            </a:r>
          </a:p>
          <a:p>
            <a:pPr lvl="1"/>
            <a:r>
              <a:rPr lang="en-US" sz="2000">
                <a:latin typeface="Segoe UI" panose="020B0502040204020203" pitchFamily="34" charset="0"/>
                <a:cs typeface="Segoe UI" panose="020B0502040204020203" pitchFamily="34" charset="0"/>
              </a:rPr>
              <a:t>In today’s AI-centric world, it’s crucial for individuals across all professions to grasp the basics of Generative AI and incorporate AI tools into their workflows to boost productivity.</a:t>
            </a:r>
            <a:endParaRPr lang="en-US" sz="2000" b="1" dirty="0">
              <a:latin typeface="Segoe UI" panose="020B0502040204020203" pitchFamily="34" charset="0"/>
              <a:cs typeface="Segoe UI" panose="020B0502040204020203" pitchFamily="34" charset="0"/>
            </a:endParaRPr>
          </a:p>
        </p:txBody>
      </p:sp>
      <p:pic>
        <p:nvPicPr>
          <p:cNvPr id="3" name="Picture 2">
            <a:extLst>
              <a:ext uri="{FF2B5EF4-FFF2-40B4-BE49-F238E27FC236}">
                <a16:creationId xmlns:a16="http://schemas.microsoft.com/office/drawing/2014/main" id="{9FFBB317-CF84-F436-C861-DB0C7BBCE576}"/>
              </a:ext>
            </a:extLst>
          </p:cNvPr>
          <p:cNvPicPr/>
          <p:nvPr/>
        </p:nvPicPr>
        <p:blipFill>
          <a:blip r:embed="rId3"/>
          <a:stretch>
            <a:fillRect/>
          </a:stretch>
        </p:blipFill>
        <p:spPr>
          <a:xfrm>
            <a:off x="8812340" y="1731835"/>
            <a:ext cx="3126105" cy="3126105"/>
          </a:xfrm>
          <a:prstGeom prst="rect">
            <a:avLst/>
          </a:prstGeom>
        </p:spPr>
      </p:pic>
    </p:spTree>
    <p:extLst>
      <p:ext uri="{BB962C8B-B14F-4D97-AF65-F5344CB8AC3E}">
        <p14:creationId xmlns:p14="http://schemas.microsoft.com/office/powerpoint/2010/main" val="34206337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04B67F-D6EF-8AD0-8EFC-C037F14CFD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6D351E-E40F-5140-6E18-54F6C540F512}"/>
              </a:ext>
            </a:extLst>
          </p:cNvPr>
          <p:cNvSpPr>
            <a:spLocks noGrp="1"/>
          </p:cNvSpPr>
          <p:nvPr>
            <p:ph type="title"/>
          </p:nvPr>
        </p:nvSpPr>
        <p:spPr/>
        <p:txBody>
          <a:bodyPr/>
          <a:lstStyle/>
          <a:p>
            <a:r>
              <a:rPr lang="en-US" dirty="0"/>
              <a:t>Why should we learn about Gen AI?</a:t>
            </a:r>
          </a:p>
        </p:txBody>
      </p:sp>
      <p:sp>
        <p:nvSpPr>
          <p:cNvPr id="6" name="TextBox 5">
            <a:extLst>
              <a:ext uri="{FF2B5EF4-FFF2-40B4-BE49-F238E27FC236}">
                <a16:creationId xmlns:a16="http://schemas.microsoft.com/office/drawing/2014/main" id="{4AD06EAA-4203-5D56-49AA-030D3CA6032B}"/>
              </a:ext>
            </a:extLst>
          </p:cNvPr>
          <p:cNvSpPr txBox="1"/>
          <p:nvPr/>
        </p:nvSpPr>
        <p:spPr>
          <a:xfrm>
            <a:off x="3055422" y="1460940"/>
            <a:ext cx="6081155" cy="523220"/>
          </a:xfrm>
          <a:prstGeom prst="rect">
            <a:avLst/>
          </a:prstGeom>
          <a:noFill/>
        </p:spPr>
        <p:txBody>
          <a:bodyPr wrap="square" rtlCol="0">
            <a:spAutoFit/>
          </a:bodyPr>
          <a:lstStyle/>
          <a:p>
            <a:r>
              <a:rPr lang="en-US" sz="2800" b="1" dirty="0">
                <a:latin typeface="Segoe UI" panose="020B0502040204020203" pitchFamily="34" charset="0"/>
                <a:cs typeface="Segoe UI" panose="020B0502040204020203" pitchFamily="34" charset="0"/>
              </a:rPr>
              <a:t>Will AI replace jobs / employees ?</a:t>
            </a:r>
            <a:endParaRPr lang="en-US" sz="2800" dirty="0">
              <a:latin typeface="Segoe UI" panose="020B0502040204020203" pitchFamily="34" charset="0"/>
              <a:cs typeface="Segoe UI" panose="020B0502040204020203" pitchFamily="34" charset="0"/>
            </a:endParaRPr>
          </a:p>
        </p:txBody>
      </p:sp>
      <p:pic>
        <p:nvPicPr>
          <p:cNvPr id="14" name="Picture 13">
            <a:extLst>
              <a:ext uri="{FF2B5EF4-FFF2-40B4-BE49-F238E27FC236}">
                <a16:creationId xmlns:a16="http://schemas.microsoft.com/office/drawing/2014/main" id="{333E9165-B071-3A80-C889-33B4ADFA118E}"/>
              </a:ext>
            </a:extLst>
          </p:cNvPr>
          <p:cNvPicPr/>
          <p:nvPr/>
        </p:nvPicPr>
        <p:blipFill>
          <a:blip r:embed="rId3"/>
          <a:stretch>
            <a:fillRect/>
          </a:stretch>
        </p:blipFill>
        <p:spPr>
          <a:xfrm>
            <a:off x="1895729" y="2072435"/>
            <a:ext cx="4200271" cy="3981179"/>
          </a:xfrm>
          <a:prstGeom prst="rect">
            <a:avLst/>
          </a:prstGeom>
        </p:spPr>
      </p:pic>
      <p:pic>
        <p:nvPicPr>
          <p:cNvPr id="17" name="Picture 16">
            <a:extLst>
              <a:ext uri="{FF2B5EF4-FFF2-40B4-BE49-F238E27FC236}">
                <a16:creationId xmlns:a16="http://schemas.microsoft.com/office/drawing/2014/main" id="{B4F555D3-F808-2EB8-7464-738BA7C7E218}"/>
              </a:ext>
            </a:extLst>
          </p:cNvPr>
          <p:cNvPicPr>
            <a:picLocks/>
          </p:cNvPicPr>
          <p:nvPr/>
        </p:nvPicPr>
        <p:blipFill>
          <a:blip r:embed="rId4"/>
          <a:stretch>
            <a:fillRect/>
          </a:stretch>
        </p:blipFill>
        <p:spPr>
          <a:xfrm>
            <a:off x="7149531" y="2077217"/>
            <a:ext cx="3507157" cy="1585127"/>
          </a:xfrm>
          <a:prstGeom prst="rect">
            <a:avLst/>
          </a:prstGeom>
        </p:spPr>
      </p:pic>
      <p:sp>
        <p:nvSpPr>
          <p:cNvPr id="18" name="Shape 672">
            <a:extLst>
              <a:ext uri="{FF2B5EF4-FFF2-40B4-BE49-F238E27FC236}">
                <a16:creationId xmlns:a16="http://schemas.microsoft.com/office/drawing/2014/main" id="{66768D02-EC3A-5998-AC11-782581A75B25}"/>
              </a:ext>
            </a:extLst>
          </p:cNvPr>
          <p:cNvSpPr>
            <a:spLocks/>
          </p:cNvSpPr>
          <p:nvPr/>
        </p:nvSpPr>
        <p:spPr>
          <a:xfrm>
            <a:off x="7144872" y="2072435"/>
            <a:ext cx="3516476" cy="1594690"/>
          </a:xfrm>
          <a:custGeom>
            <a:avLst/>
            <a:gdLst/>
            <a:ahLst/>
            <a:cxnLst/>
            <a:rect l="0" t="0" r="0" b="0"/>
            <a:pathLst>
              <a:path w="4792219" h="2117598">
                <a:moveTo>
                  <a:pt x="0" y="2117598"/>
                </a:moveTo>
                <a:lnTo>
                  <a:pt x="4792219" y="2117598"/>
                </a:lnTo>
                <a:lnTo>
                  <a:pt x="4792219" y="0"/>
                </a:lnTo>
                <a:lnTo>
                  <a:pt x="0" y="0"/>
                </a:lnTo>
                <a:close/>
              </a:path>
            </a:pathLst>
          </a:custGeom>
          <a:ln w="12700" cap="flat">
            <a:miter lim="127000"/>
          </a:ln>
        </p:spPr>
        <p:style>
          <a:lnRef idx="1">
            <a:srgbClr val="333333"/>
          </a:lnRef>
          <a:fillRef idx="0">
            <a:srgbClr val="000000">
              <a:alpha val="0"/>
            </a:srgbClr>
          </a:fillRef>
          <a:effectRef idx="0">
            <a:scrgbClr r="0" g="0" b="0"/>
          </a:effectRef>
          <a:fontRef idx="none"/>
        </p:style>
        <p:txBody>
          <a:bodyPr/>
          <a:lstStyle/>
          <a:p>
            <a:endParaRPr lang="en-US"/>
          </a:p>
        </p:txBody>
      </p:sp>
      <p:pic>
        <p:nvPicPr>
          <p:cNvPr id="19" name="Picture 18">
            <a:extLst>
              <a:ext uri="{FF2B5EF4-FFF2-40B4-BE49-F238E27FC236}">
                <a16:creationId xmlns:a16="http://schemas.microsoft.com/office/drawing/2014/main" id="{2C502834-63B9-79E3-0826-853C7C676E55}"/>
              </a:ext>
            </a:extLst>
          </p:cNvPr>
          <p:cNvPicPr/>
          <p:nvPr/>
        </p:nvPicPr>
        <p:blipFill>
          <a:blip r:embed="rId5"/>
          <a:stretch>
            <a:fillRect/>
          </a:stretch>
        </p:blipFill>
        <p:spPr>
          <a:xfrm>
            <a:off x="7265278" y="3755400"/>
            <a:ext cx="3275017" cy="2298214"/>
          </a:xfrm>
          <a:prstGeom prst="rect">
            <a:avLst/>
          </a:prstGeom>
        </p:spPr>
      </p:pic>
    </p:spTree>
    <p:extLst>
      <p:ext uri="{BB962C8B-B14F-4D97-AF65-F5344CB8AC3E}">
        <p14:creationId xmlns:p14="http://schemas.microsoft.com/office/powerpoint/2010/main" val="35361192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7D7284-FDAD-6D03-FF59-95CAC0F13DE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F62486-EFB4-B76E-6D57-CC06D83A6EEC}"/>
              </a:ext>
            </a:extLst>
          </p:cNvPr>
          <p:cNvSpPr>
            <a:spLocks noGrp="1"/>
          </p:cNvSpPr>
          <p:nvPr>
            <p:ph type="title"/>
          </p:nvPr>
        </p:nvSpPr>
        <p:spPr/>
        <p:txBody>
          <a:bodyPr anchor="ctr">
            <a:normAutofit fontScale="90000"/>
          </a:bodyPr>
          <a:lstStyle/>
          <a:p>
            <a:pPr algn="l"/>
            <a:r>
              <a:rPr lang="en-US" dirty="0"/>
              <a:t>Gen-AI based startups and real products</a:t>
            </a:r>
          </a:p>
        </p:txBody>
      </p:sp>
      <p:sp>
        <p:nvSpPr>
          <p:cNvPr id="6" name="TextBox 5">
            <a:extLst>
              <a:ext uri="{FF2B5EF4-FFF2-40B4-BE49-F238E27FC236}">
                <a16:creationId xmlns:a16="http://schemas.microsoft.com/office/drawing/2014/main" id="{AAAEDC70-8B78-5C0B-26DF-169019D690DD}"/>
              </a:ext>
            </a:extLst>
          </p:cNvPr>
          <p:cNvSpPr txBox="1"/>
          <p:nvPr/>
        </p:nvSpPr>
        <p:spPr>
          <a:xfrm>
            <a:off x="795134" y="1500187"/>
            <a:ext cx="8672958" cy="4036170"/>
          </a:xfrm>
          <a:prstGeom prst="rect">
            <a:avLst/>
          </a:prstGeom>
          <a:noFill/>
        </p:spPr>
        <p:txBody>
          <a:bodyPr wrap="square" rtlCol="0">
            <a:spAutoFit/>
          </a:bodyPr>
          <a:lstStyle/>
          <a:p>
            <a:r>
              <a:rPr lang="en-US" sz="2400" b="1" dirty="0">
                <a:latin typeface="Segoe UI" panose="020B0502040204020203" pitchFamily="34" charset="0"/>
                <a:cs typeface="Segoe UI" panose="020B0502040204020203" pitchFamily="34" charset="0"/>
              </a:rPr>
              <a:t>Use cases for real products using Gen AI:</a:t>
            </a:r>
            <a:r>
              <a:rPr lang="en-US" sz="2400" dirty="0">
                <a:latin typeface="Segoe UI" panose="020B0502040204020203" pitchFamily="34" charset="0"/>
                <a:cs typeface="Segoe UI" panose="020B0502040204020203" pitchFamily="34" charset="0"/>
              </a:rPr>
              <a:t> </a:t>
            </a:r>
          </a:p>
          <a:p>
            <a:pPr marL="342900" indent="-342900">
              <a:buFont typeface="Arial" panose="020B0604020202020204" pitchFamily="34" charset="0"/>
              <a:buChar char="•"/>
            </a:pPr>
            <a:endParaRPr lang="en-US" sz="2000" dirty="0">
              <a:latin typeface="Segoe UI" panose="020B0502040204020203" pitchFamily="34" charset="0"/>
              <a:cs typeface="Segoe UI" panose="020B0502040204020203" pitchFamily="34" charset="0"/>
            </a:endParaRPr>
          </a:p>
          <a:p>
            <a:pPr marL="800100" lvl="1" indent="-342900">
              <a:lnSpc>
                <a:spcPct val="150000"/>
              </a:lnSpc>
              <a:buFont typeface="Arial" panose="020B0604020202020204" pitchFamily="34" charset="0"/>
              <a:buChar char="•"/>
            </a:pPr>
            <a:r>
              <a:rPr lang="en-US" sz="2400" b="1" dirty="0"/>
              <a:t>Loop-x </a:t>
            </a:r>
            <a:r>
              <a:rPr lang="en-US" sz="2000" dirty="0"/>
              <a:t>(AI Agents for different roles): </a:t>
            </a:r>
            <a:r>
              <a:rPr lang="en-US" u="sng" dirty="0">
                <a:solidFill>
                  <a:srgbClr val="007DC2"/>
                </a:solidFill>
                <a:hlinkClick r:id="rId3"/>
              </a:rPr>
              <a:t>https://loop-x.co</a:t>
            </a:r>
            <a:endParaRPr lang="en-US" sz="2000" u="sng" dirty="0">
              <a:solidFill>
                <a:srgbClr val="007DC2"/>
              </a:solidFill>
            </a:endParaRPr>
          </a:p>
          <a:p>
            <a:pPr marL="800100" lvl="1" indent="-342900">
              <a:lnSpc>
                <a:spcPct val="150000"/>
              </a:lnSpc>
              <a:buFont typeface="Arial" panose="020B0604020202020204" pitchFamily="34" charset="0"/>
              <a:buChar char="•"/>
            </a:pPr>
            <a:r>
              <a:rPr lang="en-US" sz="2400" b="1" dirty="0"/>
              <a:t>Gemelo ai </a:t>
            </a:r>
            <a:r>
              <a:rPr lang="en-US" sz="2000" dirty="0"/>
              <a:t>(Twin AI creator): </a:t>
            </a:r>
            <a:r>
              <a:rPr lang="en-US" u="sng" dirty="0">
                <a:solidFill>
                  <a:srgbClr val="007DC2"/>
                </a:solidFill>
              </a:rPr>
              <a:t>https://gemelo.ai </a:t>
            </a:r>
            <a:endParaRPr lang="en-US" sz="2000" u="sng" dirty="0">
              <a:solidFill>
                <a:srgbClr val="007DC2"/>
              </a:solidFill>
            </a:endParaRPr>
          </a:p>
          <a:p>
            <a:pPr marL="800100" lvl="1" indent="-342900">
              <a:lnSpc>
                <a:spcPct val="150000"/>
              </a:lnSpc>
              <a:buFont typeface="Arial" panose="020B0604020202020204" pitchFamily="34" charset="0"/>
              <a:buChar char="•"/>
            </a:pPr>
            <a:r>
              <a:rPr lang="en-US" sz="2400" b="1" dirty="0" err="1"/>
              <a:t>Apriora</a:t>
            </a:r>
            <a:r>
              <a:rPr lang="en-US" sz="2400" b="1" dirty="0"/>
              <a:t> AI</a:t>
            </a:r>
            <a:r>
              <a:rPr lang="en-US" sz="2000" dirty="0"/>
              <a:t> (Recruitment and Interviews): </a:t>
            </a:r>
            <a:r>
              <a:rPr lang="en-US" u="sng" dirty="0">
                <a:solidFill>
                  <a:srgbClr val="007DC2"/>
                </a:solidFill>
              </a:rPr>
              <a:t>https://www.apriora.ai </a:t>
            </a:r>
            <a:endParaRPr lang="en-US" sz="2000" u="sng" dirty="0">
              <a:solidFill>
                <a:srgbClr val="007DC2"/>
              </a:solidFill>
            </a:endParaRPr>
          </a:p>
          <a:p>
            <a:pPr marL="800100" lvl="1" indent="-342900">
              <a:lnSpc>
                <a:spcPct val="150000"/>
              </a:lnSpc>
              <a:buFont typeface="Arial" panose="020B0604020202020204" pitchFamily="34" charset="0"/>
              <a:buChar char="•"/>
            </a:pPr>
            <a:r>
              <a:rPr lang="en-US" sz="2400" b="1" dirty="0" err="1"/>
              <a:t>Velents</a:t>
            </a:r>
            <a:r>
              <a:rPr lang="en-US" sz="2400" b="1" dirty="0"/>
              <a:t> AI </a:t>
            </a:r>
            <a:r>
              <a:rPr lang="en-US" sz="2000" dirty="0"/>
              <a:t>(Recruitment and Interviews): </a:t>
            </a:r>
            <a:r>
              <a:rPr lang="en-US" u="sng" dirty="0">
                <a:solidFill>
                  <a:srgbClr val="007DC2"/>
                </a:solidFill>
              </a:rPr>
              <a:t>https://www.velents.com </a:t>
            </a:r>
          </a:p>
          <a:p>
            <a:pPr marL="800100" lvl="1" indent="-342900">
              <a:lnSpc>
                <a:spcPct val="150000"/>
              </a:lnSpc>
              <a:buFont typeface="Arial" panose="020B0604020202020204" pitchFamily="34" charset="0"/>
              <a:buChar char="•"/>
            </a:pPr>
            <a:r>
              <a:rPr lang="en-US" sz="2400" b="1" dirty="0"/>
              <a:t>Nancy AI </a:t>
            </a:r>
            <a:r>
              <a:rPr lang="en-US" sz="2000" dirty="0"/>
              <a:t>(Recruitment and Interviews): </a:t>
            </a:r>
            <a:r>
              <a:rPr lang="en-US" u="sng" dirty="0">
                <a:solidFill>
                  <a:srgbClr val="007DC2"/>
                </a:solidFill>
              </a:rPr>
              <a:t>https://nancy-ai.com </a:t>
            </a:r>
            <a:endParaRPr lang="en-US" sz="2000" u="sng" dirty="0">
              <a:solidFill>
                <a:srgbClr val="007DC2"/>
              </a:solidFill>
            </a:endParaRPr>
          </a:p>
          <a:p>
            <a:pPr marL="800100" lvl="1" indent="-342900">
              <a:lnSpc>
                <a:spcPct val="150000"/>
              </a:lnSpc>
              <a:buFont typeface="Arial" panose="020B0604020202020204" pitchFamily="34" charset="0"/>
              <a:buChar char="•"/>
            </a:pPr>
            <a:r>
              <a:rPr lang="en-US" sz="2400" b="1" dirty="0"/>
              <a:t>Mariana AI </a:t>
            </a:r>
            <a:r>
              <a:rPr lang="en-US" sz="2000" dirty="0"/>
              <a:t>(Medical): </a:t>
            </a:r>
            <a:r>
              <a:rPr lang="en-US" u="sng" dirty="0">
                <a:solidFill>
                  <a:srgbClr val="007DC2"/>
                </a:solidFill>
              </a:rPr>
              <a:t>https://marianaai.com</a:t>
            </a:r>
            <a:endParaRPr lang="en-US" sz="2000" u="sng" dirty="0">
              <a:solidFill>
                <a:srgbClr val="007DC2"/>
              </a:soli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41414091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3F2193-D3CA-158F-D226-6E1D6AFA1B6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76469C8-DBAD-8E7C-0B96-FD96F361B971}"/>
              </a:ext>
            </a:extLst>
          </p:cNvPr>
          <p:cNvSpPr>
            <a:spLocks noGrp="1"/>
          </p:cNvSpPr>
          <p:nvPr>
            <p:ph type="title"/>
          </p:nvPr>
        </p:nvSpPr>
        <p:spPr/>
        <p:txBody>
          <a:bodyPr anchor="ctr"/>
          <a:lstStyle/>
          <a:p>
            <a:pPr algn="l"/>
            <a:r>
              <a:rPr lang="en-US" dirty="0"/>
              <a:t>How to use the AI tools responsibility?</a:t>
            </a:r>
          </a:p>
        </p:txBody>
      </p:sp>
      <p:sp>
        <p:nvSpPr>
          <p:cNvPr id="6" name="TextBox 5">
            <a:extLst>
              <a:ext uri="{FF2B5EF4-FFF2-40B4-BE49-F238E27FC236}">
                <a16:creationId xmlns:a16="http://schemas.microsoft.com/office/drawing/2014/main" id="{0D70B1B4-7482-FD0D-104C-81BC4976FA7F}"/>
              </a:ext>
            </a:extLst>
          </p:cNvPr>
          <p:cNvSpPr txBox="1"/>
          <p:nvPr/>
        </p:nvSpPr>
        <p:spPr>
          <a:xfrm>
            <a:off x="795133" y="1396015"/>
            <a:ext cx="9066497" cy="4570803"/>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en-US" sz="2400" b="1" dirty="0">
                <a:latin typeface="Segoe UI" panose="020B0502040204020203" pitchFamily="34" charset="0"/>
                <a:cs typeface="Segoe UI" panose="020B0502040204020203" pitchFamily="34" charset="0"/>
              </a:rPr>
              <a:t>As a Student / Learner:</a:t>
            </a:r>
            <a:r>
              <a:rPr lang="en-US" sz="2400" dirty="0">
                <a:latin typeface="Segoe UI" panose="020B0502040204020203" pitchFamily="34" charset="0"/>
                <a:cs typeface="Segoe UI" panose="020B0502040204020203" pitchFamily="34" charset="0"/>
              </a:rPr>
              <a:t> </a:t>
            </a:r>
            <a:endParaRPr lang="en-US" sz="2000" dirty="0">
              <a:latin typeface="Segoe UI" panose="020B0502040204020203" pitchFamily="34" charset="0"/>
              <a:cs typeface="Segoe UI" panose="020B0502040204020203" pitchFamily="34" charset="0"/>
            </a:endParaRPr>
          </a:p>
          <a:p>
            <a:pPr marL="914400" lvl="1" indent="-457200">
              <a:lnSpc>
                <a:spcPct val="150000"/>
              </a:lnSpc>
              <a:buFont typeface="Arial" panose="020B0604020202020204" pitchFamily="34" charset="0"/>
              <a:buChar char="•"/>
            </a:pPr>
            <a:r>
              <a:rPr lang="en-US" sz="1600" b="1" dirty="0">
                <a:latin typeface="Segoe UI" panose="020B0502040204020203" pitchFamily="34" charset="0"/>
                <a:cs typeface="Segoe UI" panose="020B0502040204020203" pitchFamily="34" charset="0"/>
              </a:rPr>
              <a:t>Use AI for </a:t>
            </a:r>
            <a:r>
              <a:rPr lang="en-US" sz="1600" dirty="0">
                <a:latin typeface="Segoe UI" panose="020B0502040204020203" pitchFamily="34" charset="0"/>
                <a:cs typeface="Segoe UI" panose="020B0502040204020203" pitchFamily="34" charset="0"/>
              </a:rPr>
              <a:t>asking for explanation, self—testing, researching, and similar activities.</a:t>
            </a:r>
          </a:p>
          <a:p>
            <a:pPr marL="914400" lvl="1" indent="-457200">
              <a:lnSpc>
                <a:spcPct val="150000"/>
              </a:lnSpc>
              <a:buFont typeface="Arial" panose="020B0604020202020204" pitchFamily="34" charset="0"/>
              <a:buChar char="•"/>
            </a:pPr>
            <a:r>
              <a:rPr lang="en-US" sz="1600" b="1" dirty="0">
                <a:latin typeface="Segoe UI" panose="020B0502040204020203" pitchFamily="34" charset="0"/>
                <a:cs typeface="Segoe UI" panose="020B0502040204020203" pitchFamily="34" charset="0"/>
              </a:rPr>
              <a:t>Don’t Use AI for </a:t>
            </a:r>
            <a:r>
              <a:rPr lang="en-US" sz="1600" dirty="0">
                <a:latin typeface="Segoe UI" panose="020B0502040204020203" pitchFamily="34" charset="0"/>
                <a:cs typeface="Segoe UI" panose="020B0502040204020203" pitchFamily="34" charset="0"/>
              </a:rPr>
              <a:t>assignments, projects, or inside topics you’re still learning.</a:t>
            </a:r>
          </a:p>
          <a:p>
            <a:pPr marL="914400" lvl="1" indent="-457200">
              <a:lnSpc>
                <a:spcPct val="150000"/>
              </a:lnSpc>
              <a:buFont typeface="Arial" panose="020B0604020202020204" pitchFamily="34" charset="0"/>
              <a:buChar char="•"/>
            </a:pPr>
            <a:r>
              <a:rPr lang="en-US" sz="1600" b="1" dirty="0">
                <a:latin typeface="Segoe UI" panose="020B0502040204020203" pitchFamily="34" charset="0"/>
                <a:cs typeface="Segoe UI" panose="020B0502040204020203" pitchFamily="34" charset="0"/>
              </a:rPr>
              <a:t>Build Your Skills </a:t>
            </a:r>
            <a:r>
              <a:rPr lang="en-US" sz="1600" dirty="0">
                <a:latin typeface="Segoe UI" panose="020B0502040204020203" pitchFamily="34" charset="0"/>
                <a:cs typeface="Segoe UI" panose="020B0502040204020203" pitchFamily="34" charset="0"/>
              </a:rPr>
              <a:t>to work effectively both with AI and without AI.</a:t>
            </a:r>
          </a:p>
          <a:p>
            <a:pPr lvl="1">
              <a:lnSpc>
                <a:spcPct val="150000"/>
              </a:lnSpc>
            </a:pPr>
            <a:endParaRPr lang="en-US" dirty="0">
              <a:latin typeface="Segoe UI" panose="020B0502040204020203" pitchFamily="34" charset="0"/>
              <a:cs typeface="Segoe UI" panose="020B0502040204020203" pitchFamily="34" charset="0"/>
            </a:endParaRPr>
          </a:p>
          <a:p>
            <a:pPr lvl="1">
              <a:lnSpc>
                <a:spcPct val="150000"/>
              </a:lnSpc>
            </a:pPr>
            <a:endParaRPr lang="en-US" dirty="0">
              <a:latin typeface="Segoe UI" panose="020B0502040204020203" pitchFamily="34" charset="0"/>
              <a:cs typeface="Segoe UI" panose="020B0502040204020203" pitchFamily="34" charset="0"/>
            </a:endParaRPr>
          </a:p>
          <a:p>
            <a:pPr marL="342900" indent="-342900">
              <a:lnSpc>
                <a:spcPct val="150000"/>
              </a:lnSpc>
              <a:buFont typeface="Arial" panose="020B0604020202020204" pitchFamily="34" charset="0"/>
              <a:buChar char="•"/>
            </a:pPr>
            <a:r>
              <a:rPr lang="en-US" sz="2400" b="1" dirty="0">
                <a:latin typeface="Segoe UI" panose="020B0502040204020203" pitchFamily="34" charset="0"/>
                <a:cs typeface="Segoe UI" panose="020B0502040204020203" pitchFamily="34" charset="0"/>
              </a:rPr>
              <a:t>In a Job or Freelancing : </a:t>
            </a:r>
          </a:p>
          <a:p>
            <a:pPr marL="914400" lvl="1" indent="-457200">
              <a:lnSpc>
                <a:spcPct val="150000"/>
              </a:lnSpc>
              <a:buFont typeface="Arial" panose="020B0604020202020204" pitchFamily="34" charset="0"/>
              <a:buChar char="•"/>
            </a:pPr>
            <a:r>
              <a:rPr lang="en-US" sz="1600" b="1" dirty="0">
                <a:latin typeface="Segoe UI" panose="020B0502040204020203" pitchFamily="34" charset="0"/>
                <a:cs typeface="Segoe UI" panose="020B0502040204020203" pitchFamily="34" charset="0"/>
              </a:rPr>
              <a:t>Check First </a:t>
            </a:r>
            <a:r>
              <a:rPr lang="en-US" sz="1600" dirty="0">
                <a:latin typeface="Segoe UI" panose="020B0502040204020203" pitchFamily="34" charset="0"/>
                <a:cs typeface="Segoe UI" panose="020B0502040204020203" pitchFamily="34" charset="0"/>
              </a:rPr>
              <a:t>if AI tool usage is permitted and which tools are allowed.</a:t>
            </a:r>
          </a:p>
          <a:p>
            <a:pPr marL="914400" lvl="1" indent="-457200">
              <a:lnSpc>
                <a:spcPct val="150000"/>
              </a:lnSpc>
              <a:buFont typeface="Arial" panose="020B0604020202020204" pitchFamily="34" charset="0"/>
              <a:buChar char="•"/>
            </a:pPr>
            <a:r>
              <a:rPr lang="en-US" sz="1600" b="1" dirty="0">
                <a:latin typeface="Segoe UI" panose="020B0502040204020203" pitchFamily="34" charset="0"/>
                <a:cs typeface="Segoe UI" panose="020B0502040204020203" pitchFamily="34" charset="0"/>
              </a:rPr>
              <a:t>Use AI to boost productivity</a:t>
            </a:r>
            <a:r>
              <a:rPr lang="en-US" sz="1600" dirty="0">
                <a:latin typeface="Segoe UI" panose="020B0502040204020203" pitchFamily="34" charset="0"/>
                <a:cs typeface="Segoe UI" panose="020B0502040204020203" pitchFamily="34" charset="0"/>
              </a:rPr>
              <a:t> and improve your work</a:t>
            </a:r>
          </a:p>
          <a:p>
            <a:pPr marL="914400" lvl="1" indent="-457200">
              <a:lnSpc>
                <a:spcPct val="150000"/>
              </a:lnSpc>
              <a:buFont typeface="Arial" panose="020B0604020202020204" pitchFamily="34" charset="0"/>
              <a:buChar char="•"/>
            </a:pPr>
            <a:r>
              <a:rPr lang="en-US" sz="1600" b="1" dirty="0">
                <a:latin typeface="Segoe UI" panose="020B0502040204020203" pitchFamily="34" charset="0"/>
                <a:cs typeface="Segoe UI" panose="020B0502040204020203" pitchFamily="34" charset="0"/>
              </a:rPr>
              <a:t>Always review </a:t>
            </a:r>
            <a:r>
              <a:rPr lang="en-US" sz="1600" dirty="0">
                <a:latin typeface="Segoe UI" panose="020B0502040204020203" pitchFamily="34" charset="0"/>
                <a:cs typeface="Segoe UI" panose="020B0502040204020203" pitchFamily="34" charset="0"/>
              </a:rPr>
              <a:t>AI-generated content carefully</a:t>
            </a:r>
          </a:p>
          <a:p>
            <a:pPr marL="914400" lvl="1" indent="-457200">
              <a:lnSpc>
                <a:spcPct val="150000"/>
              </a:lnSpc>
              <a:buFont typeface="Arial" panose="020B0604020202020204" pitchFamily="34" charset="0"/>
              <a:buChar char="•"/>
            </a:pPr>
            <a:r>
              <a:rPr lang="en-US" sz="1600" b="1" dirty="0">
                <a:latin typeface="Segoe UI" panose="020B0502040204020203" pitchFamily="34" charset="0"/>
                <a:cs typeface="Segoe UI" panose="020B0502040204020203" pitchFamily="34" charset="0"/>
              </a:rPr>
              <a:t>Don’t rely</a:t>
            </a:r>
            <a:r>
              <a:rPr lang="en-US" sz="1600" dirty="0">
                <a:latin typeface="Segoe UI" panose="020B0502040204020203" pitchFamily="34" charset="0"/>
                <a:cs typeface="Segoe UI" panose="020B0502040204020203" pitchFamily="34" charset="0"/>
              </a:rPr>
              <a:t> on AI for tasks you have no prior knowledge of.</a:t>
            </a:r>
          </a:p>
        </p:txBody>
      </p:sp>
    </p:spTree>
    <p:extLst>
      <p:ext uri="{BB962C8B-B14F-4D97-AF65-F5344CB8AC3E}">
        <p14:creationId xmlns:p14="http://schemas.microsoft.com/office/powerpoint/2010/main" val="21102582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826B2FE-6AC7-3DB5-B2E9-662131301B78}"/>
            </a:ext>
          </a:extLst>
        </p:cNvPr>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1B589E2F-E5C8-2E2E-EB91-481554036A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25" name="Freeform: Shape 24">
            <a:extLst>
              <a:ext uri="{FF2B5EF4-FFF2-40B4-BE49-F238E27FC236}">
                <a16:creationId xmlns:a16="http://schemas.microsoft.com/office/drawing/2014/main" id="{0561480E-83EC-15EB-410E-F69B25A63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4425" y="0"/>
            <a:ext cx="9963150"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solidFill>
              <a:srgbClr val="EFEFEF"/>
            </a:solidFill>
          </a:ln>
          <a:effectLst>
            <a:outerShdw blurRad="139700" sx="102000" sy="102000" algn="ctr" rotWithShape="0">
              <a:schemeClr val="bg1">
                <a:lumMod val="85000"/>
                <a:alpha val="3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27" name="Freeform: Shape 26">
            <a:extLst>
              <a:ext uri="{FF2B5EF4-FFF2-40B4-BE49-F238E27FC236}">
                <a16:creationId xmlns:a16="http://schemas.microsoft.com/office/drawing/2014/main" id="{064AEC68-CBC6-6631-0CB4-A98056F8B2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1664" y="0"/>
            <a:ext cx="9948672"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Title 5">
            <a:extLst>
              <a:ext uri="{FF2B5EF4-FFF2-40B4-BE49-F238E27FC236}">
                <a16:creationId xmlns:a16="http://schemas.microsoft.com/office/drawing/2014/main" id="{909D9E53-C3CD-9073-8BF0-493D6F67934C}"/>
              </a:ext>
            </a:extLst>
          </p:cNvPr>
          <p:cNvSpPr>
            <a:spLocks noGrp="1"/>
          </p:cNvSpPr>
          <p:nvPr>
            <p:ph type="ctrTitle"/>
          </p:nvPr>
        </p:nvSpPr>
        <p:spPr>
          <a:xfrm>
            <a:off x="1319211" y="2044963"/>
            <a:ext cx="9553578" cy="2773431"/>
          </a:xfrm>
        </p:spPr>
        <p:txBody>
          <a:bodyPr anchor="ctr">
            <a:normAutofit/>
          </a:bodyPr>
          <a:lstStyle/>
          <a:p>
            <a:r>
              <a:rPr lang="en-US" sz="3200" dirty="0">
                <a:effectLst>
                  <a:outerShdw blurRad="38100" dist="38100" dir="2700000" algn="tl">
                    <a:srgbClr val="000000">
                      <a:alpha val="43137"/>
                    </a:srgbClr>
                  </a:outerShdw>
                </a:effectLst>
              </a:rPr>
              <a:t>“You write one line — AI writes five back. </a:t>
            </a:r>
            <a:br>
              <a:rPr lang="ar-EG" sz="3200" dirty="0">
                <a:effectLst>
                  <a:outerShdw blurRad="38100" dist="38100" dir="2700000" algn="tl">
                    <a:srgbClr val="000000">
                      <a:alpha val="43137"/>
                    </a:srgbClr>
                  </a:outerShdw>
                </a:effectLst>
              </a:rPr>
            </a:br>
            <a:r>
              <a:rPr lang="en-US" sz="3200" dirty="0">
                <a:effectLst>
                  <a:outerShdw blurRad="38100" dist="38100" dir="2700000" algn="tl">
                    <a:srgbClr val="000000">
                      <a:alpha val="43137"/>
                    </a:srgbClr>
                  </a:outerShdw>
                </a:effectLst>
              </a:rPr>
              <a:t>You ask a question — it answers with context. </a:t>
            </a:r>
            <a:br>
              <a:rPr lang="ar-EG" sz="3200" dirty="0">
                <a:effectLst>
                  <a:outerShdw blurRad="38100" dist="38100" dir="2700000" algn="tl">
                    <a:srgbClr val="000000">
                      <a:alpha val="43137"/>
                    </a:srgbClr>
                  </a:outerShdw>
                </a:effectLst>
              </a:rPr>
            </a:br>
            <a:r>
              <a:rPr lang="en-US" sz="3200" dirty="0">
                <a:effectLst>
                  <a:outerShdw blurRad="38100" dist="38100" dir="2700000" algn="tl">
                    <a:srgbClr val="000000">
                      <a:alpha val="43137"/>
                    </a:srgbClr>
                  </a:outerShdw>
                </a:effectLst>
              </a:rPr>
              <a:t>That’s the </a:t>
            </a:r>
            <a:r>
              <a:rPr lang="en-US" sz="3200" i="1" dirty="0">
                <a:effectLst>
                  <a:outerShdw blurRad="38100" dist="38100" dir="2700000" algn="tl">
                    <a:srgbClr val="000000">
                      <a:alpha val="43137"/>
                    </a:srgbClr>
                  </a:outerShdw>
                </a:effectLst>
              </a:rPr>
              <a:t>vibe</a:t>
            </a:r>
            <a:r>
              <a:rPr lang="en-US" sz="3200" dirty="0">
                <a:effectLst>
                  <a:outerShdw blurRad="38100" dist="38100" dir="2700000" algn="tl">
                    <a:srgbClr val="000000">
                      <a:alpha val="43137"/>
                    </a:srgbClr>
                  </a:outerShdw>
                </a:effectLst>
              </a:rPr>
              <a:t>.”</a:t>
            </a:r>
            <a:endParaRPr lang="en-US" sz="3200" b="1" dirty="0">
              <a:effectLst>
                <a:outerShdw blurRad="38100" dist="38100" dir="2700000" algn="tl">
                  <a:srgbClr val="000000">
                    <a:alpha val="43137"/>
                  </a:srgbClr>
                </a:outerShdw>
              </a:effectLst>
              <a:latin typeface="Segoe UI" panose="020B0502040204020203" pitchFamily="34" charset="0"/>
              <a:cs typeface="Segoe UI" panose="020B0502040204020203" pitchFamily="34" charset="0"/>
            </a:endParaRPr>
          </a:p>
        </p:txBody>
      </p:sp>
      <p:sp>
        <p:nvSpPr>
          <p:cNvPr id="29" name="Rectangle 28">
            <a:extLst>
              <a:ext uri="{FF2B5EF4-FFF2-40B4-BE49-F238E27FC236}">
                <a16:creationId xmlns:a16="http://schemas.microsoft.com/office/drawing/2014/main" id="{B5C5D7AA-B40A-4EA8-7FAD-3AFADBB86A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18560" y="5524786"/>
            <a:ext cx="4754880" cy="2743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700458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6"/>
                                        </p:tgtEl>
                                        <p:attrNameLst>
                                          <p:attrName>style.visibility</p:attrName>
                                        </p:attrNameLst>
                                      </p:cBhvr>
                                      <p:to>
                                        <p:strVal val="visible"/>
                                      </p:to>
                                    </p:set>
                                    <p:animEffect transition="in" filter="fade">
                                      <p:cBhvr>
                                        <p:cTn id="7" dur="7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1415E35-C661-727E-E58C-282A74E31D3E}"/>
            </a:ext>
          </a:extLst>
        </p:cNvPr>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4E9255A7-0626-15EA-7F94-41FB0234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25" name="Freeform: Shape 24">
            <a:extLst>
              <a:ext uri="{FF2B5EF4-FFF2-40B4-BE49-F238E27FC236}">
                <a16:creationId xmlns:a16="http://schemas.microsoft.com/office/drawing/2014/main" id="{CBA7FA1F-0B68-3672-085E-690C91DB48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4425" y="0"/>
            <a:ext cx="9963150"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solidFill>
              <a:srgbClr val="EFEFEF"/>
            </a:solidFill>
          </a:ln>
          <a:effectLst>
            <a:outerShdw blurRad="139700" sx="102000" sy="102000" algn="ctr" rotWithShape="0">
              <a:schemeClr val="bg1">
                <a:lumMod val="85000"/>
                <a:alpha val="3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27" name="Freeform: Shape 26">
            <a:extLst>
              <a:ext uri="{FF2B5EF4-FFF2-40B4-BE49-F238E27FC236}">
                <a16:creationId xmlns:a16="http://schemas.microsoft.com/office/drawing/2014/main" id="{8CBEF38B-E4A6-38A3-D7A7-32F06A0B6B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1664" y="0"/>
            <a:ext cx="9948672"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Title 5">
            <a:extLst>
              <a:ext uri="{FF2B5EF4-FFF2-40B4-BE49-F238E27FC236}">
                <a16:creationId xmlns:a16="http://schemas.microsoft.com/office/drawing/2014/main" id="{78642E36-C7E1-8146-6980-4576A173537E}"/>
              </a:ext>
            </a:extLst>
          </p:cNvPr>
          <p:cNvSpPr>
            <a:spLocks noGrp="1"/>
          </p:cNvSpPr>
          <p:nvPr>
            <p:ph type="ctrTitle"/>
          </p:nvPr>
        </p:nvSpPr>
        <p:spPr>
          <a:xfrm>
            <a:off x="1524003" y="1999615"/>
            <a:ext cx="9144000" cy="2764028"/>
          </a:xfrm>
        </p:spPr>
        <p:txBody>
          <a:bodyPr anchor="ctr">
            <a:normAutofit/>
          </a:bodyPr>
          <a:lstStyle/>
          <a:p>
            <a:r>
              <a:rPr lang="en-US" sz="6600" b="1" dirty="0">
                <a:effectLst>
                  <a:outerShdw blurRad="38100" dist="38100" dir="2700000" algn="tl">
                    <a:srgbClr val="000000">
                      <a:alpha val="43137"/>
                    </a:srgbClr>
                  </a:outerShdw>
                </a:effectLst>
                <a:latin typeface="Segoe UI" panose="020B0502040204020203" pitchFamily="34" charset="0"/>
                <a:cs typeface="Segoe UI" panose="020B0502040204020203" pitchFamily="34" charset="0"/>
              </a:rPr>
              <a:t>AI Tools For</a:t>
            </a:r>
            <a:br>
              <a:rPr lang="en-US" sz="6600" b="1" dirty="0">
                <a:effectLst>
                  <a:outerShdw blurRad="38100" dist="38100" dir="2700000" algn="tl">
                    <a:srgbClr val="000000">
                      <a:alpha val="43137"/>
                    </a:srgbClr>
                  </a:outerShdw>
                </a:effectLst>
                <a:latin typeface="Segoe UI" panose="020B0502040204020203" pitchFamily="34" charset="0"/>
                <a:cs typeface="Segoe UI" panose="020B0502040204020203" pitchFamily="34" charset="0"/>
              </a:rPr>
            </a:br>
            <a:r>
              <a:rPr lang="en-US" sz="6600" b="1" dirty="0">
                <a:effectLst>
                  <a:outerShdw blurRad="38100" dist="38100" dir="2700000" algn="tl">
                    <a:srgbClr val="000000">
                      <a:alpha val="43137"/>
                    </a:srgbClr>
                  </a:outerShdw>
                </a:effectLst>
                <a:latin typeface="Segoe UI" panose="020B0502040204020203" pitchFamily="34" charset="0"/>
                <a:cs typeface="Segoe UI" panose="020B0502040204020203" pitchFamily="34" charset="0"/>
              </a:rPr>
              <a:t>Developers</a:t>
            </a:r>
          </a:p>
        </p:txBody>
      </p:sp>
      <p:sp>
        <p:nvSpPr>
          <p:cNvPr id="29" name="Rectangle 28">
            <a:extLst>
              <a:ext uri="{FF2B5EF4-FFF2-40B4-BE49-F238E27FC236}">
                <a16:creationId xmlns:a16="http://schemas.microsoft.com/office/drawing/2014/main" id="{EDC561D1-FB90-FE35-3DEC-1505E9BE68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18560" y="5524786"/>
            <a:ext cx="4754880" cy="2743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396533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6"/>
                                        </p:tgtEl>
                                        <p:attrNameLst>
                                          <p:attrName>style.visibility</p:attrName>
                                        </p:attrNameLst>
                                      </p:cBhvr>
                                      <p:to>
                                        <p:strVal val="visible"/>
                                      </p:to>
                                    </p:set>
                                    <p:animEffect transition="in" filter="fade">
                                      <p:cBhvr>
                                        <p:cTn id="7" dur="7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1CBFCF-8608-EFAD-8E63-251480C8059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D858EBD-866F-B9F9-0386-5A1F5BD6FE2F}"/>
              </a:ext>
            </a:extLst>
          </p:cNvPr>
          <p:cNvSpPr>
            <a:spLocks noGrp="1"/>
          </p:cNvSpPr>
          <p:nvPr>
            <p:ph type="title"/>
          </p:nvPr>
        </p:nvSpPr>
        <p:spPr/>
        <p:txBody>
          <a:bodyPr anchor="ctr"/>
          <a:lstStyle/>
          <a:p>
            <a:pPr algn="l"/>
            <a:r>
              <a:rPr lang="en-US" dirty="0"/>
              <a:t>AI-Powered Coding Assistant Tools</a:t>
            </a:r>
          </a:p>
        </p:txBody>
      </p:sp>
      <p:sp>
        <p:nvSpPr>
          <p:cNvPr id="6" name="TextBox 5">
            <a:extLst>
              <a:ext uri="{FF2B5EF4-FFF2-40B4-BE49-F238E27FC236}">
                <a16:creationId xmlns:a16="http://schemas.microsoft.com/office/drawing/2014/main" id="{986BF333-7293-4E8C-9678-D3FF1DCBA286}"/>
              </a:ext>
            </a:extLst>
          </p:cNvPr>
          <p:cNvSpPr txBox="1"/>
          <p:nvPr/>
        </p:nvSpPr>
        <p:spPr>
          <a:xfrm>
            <a:off x="795133" y="1396015"/>
            <a:ext cx="9066497" cy="4431983"/>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en-US" sz="2400" b="1" dirty="0">
                <a:latin typeface="Segoe UI" panose="020B0502040204020203" pitchFamily="34" charset="0"/>
                <a:cs typeface="Segoe UI" panose="020B0502040204020203" pitchFamily="34" charset="0"/>
              </a:rPr>
              <a:t>What is an AI Coding Assistant Tool?</a:t>
            </a:r>
            <a:endParaRPr lang="en-US" sz="2000" b="1" dirty="0">
              <a:latin typeface="Segoe UI" panose="020B0502040204020203" pitchFamily="34" charset="0"/>
              <a:cs typeface="Segoe UI" panose="020B0502040204020203" pitchFamily="34" charset="0"/>
            </a:endParaRPr>
          </a:p>
          <a:p>
            <a:pPr lvl="1"/>
            <a:r>
              <a:rPr lang="en-US" sz="1600" dirty="0">
                <a:latin typeface="Segoe UI" panose="020B0502040204020203" pitchFamily="34" charset="0"/>
                <a:cs typeface="Segoe UI" panose="020B0502040204020203" pitchFamily="34" charset="0"/>
              </a:rPr>
              <a:t>AI Coding Assistant tools are software tools or IDE extensions that leverage artificial intelligence to assist developers in writing, understanding, and improving the code.</a:t>
            </a:r>
          </a:p>
          <a:p>
            <a:pPr lvl="1"/>
            <a:endParaRPr lang="en-US" dirty="0">
              <a:latin typeface="Segoe UI" panose="020B0502040204020203" pitchFamily="34" charset="0"/>
              <a:cs typeface="Segoe UI" panose="020B0502040204020203" pitchFamily="34" charset="0"/>
            </a:endParaRPr>
          </a:p>
          <a:p>
            <a:pPr marL="342900" indent="-342900">
              <a:lnSpc>
                <a:spcPct val="150000"/>
              </a:lnSpc>
              <a:buFont typeface="Arial" panose="020B0604020202020204" pitchFamily="34" charset="0"/>
              <a:buChar char="•"/>
            </a:pPr>
            <a:r>
              <a:rPr lang="en-US" sz="2400" b="1" dirty="0">
                <a:latin typeface="Segoe UI" panose="020B0502040204020203" pitchFamily="34" charset="0"/>
                <a:cs typeface="Segoe UI" panose="020B0502040204020203" pitchFamily="34" charset="0"/>
              </a:rPr>
              <a:t>Key Capabilities:</a:t>
            </a:r>
          </a:p>
          <a:p>
            <a:pPr marL="800100" lvl="1" indent="-342900">
              <a:buFont typeface="Arial" panose="020B0604020202020204" pitchFamily="34" charset="0"/>
              <a:buChar char="•"/>
            </a:pPr>
            <a:r>
              <a:rPr lang="en-US" sz="1600" b="1" dirty="0">
                <a:latin typeface="Segoe UI" panose="020B0502040204020203" pitchFamily="34" charset="0"/>
                <a:cs typeface="Segoe UI" panose="020B0502040204020203" pitchFamily="34" charset="0"/>
              </a:rPr>
              <a:t>Code Suggestions and Auto-completion:</a:t>
            </a:r>
            <a:r>
              <a:rPr lang="en-US" sz="1600" dirty="0">
                <a:latin typeface="Segoe UI" panose="020B0502040204020203" pitchFamily="34" charset="0"/>
                <a:cs typeface="Segoe UI" panose="020B0502040204020203" pitchFamily="34" charset="0"/>
              </a:rPr>
              <a:t> Offers real-time suggestions for completing code blocks, reducing manual typing.</a:t>
            </a:r>
          </a:p>
          <a:p>
            <a:pPr marL="800100" lvl="1" indent="-342900">
              <a:buFont typeface="Arial" panose="020B0604020202020204" pitchFamily="34" charset="0"/>
              <a:buChar char="•"/>
            </a:pPr>
            <a:r>
              <a:rPr lang="en-US" sz="1600" b="1" dirty="0">
                <a:latin typeface="Segoe UI" panose="020B0502040204020203" pitchFamily="34" charset="0"/>
                <a:cs typeface="Segoe UI" panose="020B0502040204020203" pitchFamily="34" charset="0"/>
              </a:rPr>
              <a:t>Error Detection and Fixes: </a:t>
            </a:r>
            <a:r>
              <a:rPr lang="en-US" sz="1600" dirty="0">
                <a:latin typeface="Segoe UI" panose="020B0502040204020203" pitchFamily="34" charset="0"/>
                <a:cs typeface="Segoe UI" panose="020B0502040204020203" pitchFamily="34" charset="0"/>
              </a:rPr>
              <a:t>Identifies potential errors or bugs and suggests solutions or fixes automatically. </a:t>
            </a:r>
          </a:p>
          <a:p>
            <a:pPr marL="800100" lvl="1" indent="-342900">
              <a:buFont typeface="Arial" panose="020B0604020202020204" pitchFamily="34" charset="0"/>
              <a:buChar char="•"/>
            </a:pPr>
            <a:r>
              <a:rPr lang="en-US" sz="1600" b="1" dirty="0">
                <a:latin typeface="Segoe UI" panose="020B0502040204020203" pitchFamily="34" charset="0"/>
                <a:cs typeface="Segoe UI" panose="020B0502040204020203" pitchFamily="34" charset="0"/>
              </a:rPr>
              <a:t>Code Generation: </a:t>
            </a:r>
            <a:r>
              <a:rPr lang="en-US" sz="1600" dirty="0">
                <a:latin typeface="Segoe UI" panose="020B0502040204020203" pitchFamily="34" charset="0"/>
                <a:cs typeface="Segoe UI" panose="020B0502040204020203" pitchFamily="34" charset="0"/>
              </a:rPr>
              <a:t>Can generate entire code snippets or functions based on prompts or comments. </a:t>
            </a:r>
          </a:p>
          <a:p>
            <a:pPr marL="800100" lvl="1" indent="-342900">
              <a:buFont typeface="Arial" panose="020B0604020202020204" pitchFamily="34" charset="0"/>
              <a:buChar char="•"/>
            </a:pPr>
            <a:r>
              <a:rPr lang="en-US" sz="1600" b="1" dirty="0">
                <a:latin typeface="Segoe UI" panose="020B0502040204020203" pitchFamily="34" charset="0"/>
                <a:cs typeface="Segoe UI" panose="020B0502040204020203" pitchFamily="34" charset="0"/>
              </a:rPr>
              <a:t>Code Refactoring: </a:t>
            </a:r>
            <a:r>
              <a:rPr lang="en-US" sz="1600" dirty="0">
                <a:latin typeface="Segoe UI" panose="020B0502040204020203" pitchFamily="34" charset="0"/>
                <a:cs typeface="Segoe UI" panose="020B0502040204020203" pitchFamily="34" charset="0"/>
              </a:rPr>
              <a:t>Helps improve the structure of existing code for better performance or readability. </a:t>
            </a:r>
          </a:p>
          <a:p>
            <a:pPr marL="800100" lvl="1" indent="-342900">
              <a:buFont typeface="Arial" panose="020B0604020202020204" pitchFamily="34" charset="0"/>
              <a:buChar char="•"/>
            </a:pPr>
            <a:r>
              <a:rPr lang="en-US" sz="1600" b="1" dirty="0">
                <a:latin typeface="Segoe UI" panose="020B0502040204020203" pitchFamily="34" charset="0"/>
                <a:cs typeface="Segoe UI" panose="020B0502040204020203" pitchFamily="34" charset="0"/>
              </a:rPr>
              <a:t>Documentation Support: </a:t>
            </a:r>
            <a:r>
              <a:rPr lang="en-US" sz="1600" dirty="0">
                <a:latin typeface="Segoe UI" panose="020B0502040204020203" pitchFamily="34" charset="0"/>
                <a:cs typeface="Segoe UI" panose="020B0502040204020203" pitchFamily="34" charset="0"/>
              </a:rPr>
              <a:t>Generates or improves comments and documentation based on the code context.</a:t>
            </a:r>
          </a:p>
        </p:txBody>
      </p:sp>
    </p:spTree>
    <p:extLst>
      <p:ext uri="{BB962C8B-B14F-4D97-AF65-F5344CB8AC3E}">
        <p14:creationId xmlns:p14="http://schemas.microsoft.com/office/powerpoint/2010/main" val="31320435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353F6A-8F54-A727-2CDB-7F84E0B1EF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4889BD-FF6B-86CD-0DA8-7C9AE136AD9A}"/>
              </a:ext>
            </a:extLst>
          </p:cNvPr>
          <p:cNvSpPr>
            <a:spLocks noGrp="1"/>
          </p:cNvSpPr>
          <p:nvPr>
            <p:ph type="title"/>
          </p:nvPr>
        </p:nvSpPr>
        <p:spPr/>
        <p:txBody>
          <a:bodyPr anchor="ctr"/>
          <a:lstStyle/>
          <a:p>
            <a:pPr algn="l"/>
            <a:r>
              <a:rPr lang="en-US" dirty="0"/>
              <a:t>AI-Powered Coding Assistant Tools</a:t>
            </a:r>
          </a:p>
        </p:txBody>
      </p:sp>
      <p:sp>
        <p:nvSpPr>
          <p:cNvPr id="6" name="TextBox 5">
            <a:extLst>
              <a:ext uri="{FF2B5EF4-FFF2-40B4-BE49-F238E27FC236}">
                <a16:creationId xmlns:a16="http://schemas.microsoft.com/office/drawing/2014/main" id="{612EFCAE-3269-34B3-FB55-EBFE2AC025CF}"/>
              </a:ext>
            </a:extLst>
          </p:cNvPr>
          <p:cNvSpPr txBox="1"/>
          <p:nvPr/>
        </p:nvSpPr>
        <p:spPr>
          <a:xfrm>
            <a:off x="795133" y="1396015"/>
            <a:ext cx="9066497" cy="4334200"/>
          </a:xfrm>
          <a:prstGeom prst="rect">
            <a:avLst/>
          </a:prstGeom>
          <a:noFill/>
        </p:spPr>
        <p:txBody>
          <a:bodyPr wrap="square" rtlCol="0">
            <a:spAutoFit/>
          </a:bodyPr>
          <a:lstStyle/>
          <a:p>
            <a:pPr>
              <a:lnSpc>
                <a:spcPct val="150000"/>
              </a:lnSpc>
            </a:pPr>
            <a:r>
              <a:rPr lang="en-US" sz="2400" b="1" dirty="0">
                <a:latin typeface="Segoe UI" panose="020B0502040204020203" pitchFamily="34" charset="0"/>
                <a:cs typeface="Segoe UI" panose="020B0502040204020203" pitchFamily="34" charset="0"/>
              </a:rPr>
              <a:t>Top AI Coding Assistant Tools:</a:t>
            </a:r>
          </a:p>
          <a:p>
            <a:pPr marL="800100" lvl="1" indent="-342900">
              <a:lnSpc>
                <a:spcPct val="150000"/>
              </a:lnSpc>
              <a:buFont typeface="Arial" panose="020B0604020202020204" pitchFamily="34" charset="0"/>
              <a:buChar char="•"/>
            </a:pPr>
            <a:r>
              <a:rPr lang="en-US" dirty="0">
                <a:effectLst>
                  <a:outerShdw blurRad="38100" dist="38100" dir="2700000" algn="tl">
                    <a:srgbClr val="000000">
                      <a:alpha val="43137"/>
                    </a:srgbClr>
                  </a:outerShdw>
                </a:effectLst>
                <a:latin typeface="Segoe UI" panose="020B0502040204020203" pitchFamily="34" charset="0"/>
                <a:cs typeface="Segoe UI" panose="020B0502040204020203" pitchFamily="34" charset="0"/>
              </a:rPr>
              <a:t>GitHub Copilot</a:t>
            </a:r>
          </a:p>
          <a:p>
            <a:pPr marL="800100" lvl="1" indent="-342900">
              <a:lnSpc>
                <a:spcPct val="150000"/>
              </a:lnSpc>
              <a:buFont typeface="Arial" panose="020B0604020202020204" pitchFamily="34" charset="0"/>
              <a:buChar char="•"/>
            </a:pPr>
            <a:r>
              <a:rPr lang="en-US" dirty="0">
                <a:latin typeface="Segoe UI" panose="020B0502040204020203" pitchFamily="34" charset="0"/>
                <a:cs typeface="Segoe UI" panose="020B0502040204020203" pitchFamily="34" charset="0"/>
              </a:rPr>
              <a:t>Gemini Code Assistant</a:t>
            </a:r>
          </a:p>
          <a:p>
            <a:pPr marL="800100" lvl="1" indent="-342900">
              <a:lnSpc>
                <a:spcPct val="150000"/>
              </a:lnSpc>
              <a:buFont typeface="Arial" panose="020B0604020202020204" pitchFamily="34" charset="0"/>
              <a:buChar char="•"/>
            </a:pPr>
            <a:r>
              <a:rPr lang="en-US" dirty="0">
                <a:latin typeface="Segoe UI" panose="020B0502040204020203" pitchFamily="34" charset="0"/>
                <a:cs typeface="Segoe UI" panose="020B0502040204020203" pitchFamily="34" charset="0"/>
              </a:rPr>
              <a:t>Cursor AI</a:t>
            </a:r>
          </a:p>
          <a:p>
            <a:pPr marL="800100" lvl="1" indent="-342900">
              <a:lnSpc>
                <a:spcPct val="150000"/>
              </a:lnSpc>
              <a:buFont typeface="Arial" panose="020B0604020202020204" pitchFamily="34" charset="0"/>
              <a:buChar char="•"/>
            </a:pPr>
            <a:r>
              <a:rPr lang="en-US" dirty="0" err="1">
                <a:latin typeface="Segoe UI" panose="020B0502040204020203" pitchFamily="34" charset="0"/>
                <a:cs typeface="Segoe UI" panose="020B0502040204020203" pitchFamily="34" charset="0"/>
              </a:rPr>
              <a:t>Replit</a:t>
            </a:r>
            <a:r>
              <a:rPr lang="en-US" dirty="0">
                <a:latin typeface="Segoe UI" panose="020B0502040204020203" pitchFamily="34" charset="0"/>
                <a:cs typeface="Segoe UI" panose="020B0502040204020203" pitchFamily="34" charset="0"/>
              </a:rPr>
              <a:t> Ghostwriter</a:t>
            </a:r>
          </a:p>
          <a:p>
            <a:pPr marL="800100" lvl="1" indent="-342900">
              <a:lnSpc>
                <a:spcPct val="150000"/>
              </a:lnSpc>
              <a:buFont typeface="Arial" panose="020B0604020202020204" pitchFamily="34" charset="0"/>
              <a:buChar char="•"/>
            </a:pPr>
            <a:r>
              <a:rPr lang="en-US" dirty="0">
                <a:latin typeface="Segoe UI" panose="020B0502040204020203" pitchFamily="34" charset="0"/>
                <a:cs typeface="Segoe UI" panose="020B0502040204020203" pitchFamily="34" charset="0"/>
              </a:rPr>
              <a:t>Codium AI</a:t>
            </a:r>
          </a:p>
          <a:p>
            <a:pPr marL="800100" lvl="1" indent="-342900">
              <a:lnSpc>
                <a:spcPct val="150000"/>
              </a:lnSpc>
              <a:buFont typeface="Arial" panose="020B0604020202020204" pitchFamily="34" charset="0"/>
              <a:buChar char="•"/>
            </a:pPr>
            <a:r>
              <a:rPr lang="en-US" dirty="0" err="1">
                <a:latin typeface="Segoe UI" panose="020B0502040204020203" pitchFamily="34" charset="0"/>
                <a:cs typeface="Segoe UI" panose="020B0502040204020203" pitchFamily="34" charset="0"/>
              </a:rPr>
              <a:t>TabNine</a:t>
            </a:r>
            <a:endParaRPr lang="ar-EG" dirty="0">
              <a:latin typeface="Segoe UI" panose="020B0502040204020203" pitchFamily="34" charset="0"/>
              <a:cs typeface="Segoe UI" panose="020B0502040204020203" pitchFamily="34" charset="0"/>
            </a:endParaRPr>
          </a:p>
          <a:p>
            <a:pPr marL="800100" lvl="1" indent="-342900">
              <a:lnSpc>
                <a:spcPct val="150000"/>
              </a:lnSpc>
              <a:buFont typeface="Arial" panose="020B0604020202020204" pitchFamily="34" charset="0"/>
              <a:buChar char="•"/>
            </a:pPr>
            <a:r>
              <a:rPr lang="en-US" dirty="0">
                <a:latin typeface="Segoe UI" panose="020B0502040204020203" pitchFamily="34" charset="0"/>
                <a:cs typeface="Segoe UI" panose="020B0502040204020203" pitchFamily="34" charset="0"/>
              </a:rPr>
              <a:t>Lovable</a:t>
            </a:r>
          </a:p>
          <a:p>
            <a:pPr marL="800100" lvl="1" indent="-342900">
              <a:lnSpc>
                <a:spcPct val="150000"/>
              </a:lnSpc>
              <a:buFont typeface="Arial" panose="020B0604020202020204" pitchFamily="34" charset="0"/>
              <a:buChar char="•"/>
            </a:pPr>
            <a:r>
              <a:rPr lang="en-US" dirty="0">
                <a:latin typeface="Segoe UI" panose="020B0502040204020203" pitchFamily="34" charset="0"/>
                <a:cs typeface="Segoe UI" panose="020B0502040204020203" pitchFamily="34" charset="0"/>
              </a:rPr>
              <a:t>N8n</a:t>
            </a:r>
          </a:p>
          <a:p>
            <a:pPr marL="800100" lvl="1" indent="-342900">
              <a:lnSpc>
                <a:spcPct val="150000"/>
              </a:lnSpc>
              <a:buFont typeface="Arial" panose="020B0604020202020204" pitchFamily="34" charset="0"/>
              <a:buChar char="•"/>
            </a:pPr>
            <a:r>
              <a:rPr lang="en-US" dirty="0">
                <a:latin typeface="Segoe UI" panose="020B0502040204020203" pitchFamily="34" charset="0"/>
                <a:cs typeface="Segoe UI" panose="020B0502040204020203" pitchFamily="34" charset="0"/>
              </a:rPr>
              <a:t>… and more </a:t>
            </a:r>
          </a:p>
        </p:txBody>
      </p:sp>
    </p:spTree>
    <p:extLst>
      <p:ext uri="{BB962C8B-B14F-4D97-AF65-F5344CB8AC3E}">
        <p14:creationId xmlns:p14="http://schemas.microsoft.com/office/powerpoint/2010/main" val="26682762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C1AEF2-32D2-4654-0D98-24287B235FD8}"/>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8398A951-8A96-47E0-BEB5-A09982C4F575}"/>
              </a:ext>
            </a:extLst>
          </p:cNvPr>
          <p:cNvSpPr>
            <a:spLocks noGrp="1"/>
          </p:cNvSpPr>
          <p:nvPr>
            <p:ph type="title"/>
          </p:nvPr>
        </p:nvSpPr>
        <p:spPr>
          <a:xfrm>
            <a:off x="252249" y="365125"/>
            <a:ext cx="8931510" cy="689297"/>
          </a:xfrm>
        </p:spPr>
        <p:txBody>
          <a:bodyPr anchor="ctr">
            <a:noAutofit/>
          </a:bodyPr>
          <a:lstStyle/>
          <a:p>
            <a:pPr algn="l">
              <a:lnSpc>
                <a:spcPct val="100000"/>
              </a:lnSpc>
            </a:pPr>
            <a:r>
              <a:rPr lang="en-US" sz="2800" b="1" dirty="0">
                <a:latin typeface="Segoe UI" panose="020B0502040204020203" pitchFamily="34" charset="0"/>
                <a:cs typeface="Segoe UI" panose="020B0502040204020203" pitchFamily="34" charset="0"/>
              </a:rPr>
              <a:t>What’s GitHub Copilot</a:t>
            </a:r>
            <a:endParaRPr lang="en-US" sz="2800" dirty="0">
              <a:latin typeface="Segoe UI" panose="020B0502040204020203" pitchFamily="34" charset="0"/>
              <a:cs typeface="Segoe UI" panose="020B0502040204020203" pitchFamily="34" charset="0"/>
            </a:endParaRPr>
          </a:p>
        </p:txBody>
      </p:sp>
      <p:sp>
        <p:nvSpPr>
          <p:cNvPr id="2" name="Title 4">
            <a:extLst>
              <a:ext uri="{FF2B5EF4-FFF2-40B4-BE49-F238E27FC236}">
                <a16:creationId xmlns:a16="http://schemas.microsoft.com/office/drawing/2014/main" id="{A7F56443-7A49-6058-816D-DAF62EA8E7A3}"/>
              </a:ext>
            </a:extLst>
          </p:cNvPr>
          <p:cNvSpPr txBox="1">
            <a:spLocks/>
          </p:cNvSpPr>
          <p:nvPr/>
        </p:nvSpPr>
        <p:spPr>
          <a:xfrm>
            <a:off x="289035" y="1054422"/>
            <a:ext cx="11613930" cy="5207482"/>
          </a:xfrm>
          <a:prstGeom prst="rect">
            <a:avLst/>
          </a:prstGeom>
        </p:spPr>
        <p:txBody>
          <a:bodyPr anchor="t"/>
          <a:lstStyle>
            <a:lvl1pPr algn="l" defTabSz="1015990" rtl="0" eaLnBrk="1" latinLnBrk="0" hangingPunct="1">
              <a:lnSpc>
                <a:spcPct val="90000"/>
              </a:lnSpc>
              <a:spcBef>
                <a:spcPct val="0"/>
              </a:spcBef>
              <a:buNone/>
              <a:defRPr sz="3111" kern="1200">
                <a:solidFill>
                  <a:schemeClr val="tx1"/>
                </a:solidFill>
                <a:latin typeface="Segoe UI" panose="020B0502040204020203" pitchFamily="34" charset="0"/>
                <a:ea typeface="Open Sans Light" panose="020B0306030504020204" pitchFamily="34" charset="0"/>
                <a:cs typeface="Segoe UI" panose="020B0502040204020203" pitchFamily="34" charset="0"/>
              </a:defRPr>
            </a:lvl1pPr>
          </a:lstStyle>
          <a:p>
            <a:pPr marL="285750" indent="-285750" algn="just">
              <a:lnSpc>
                <a:spcPct val="150000"/>
              </a:lnSpc>
              <a:buFont typeface="Wingdings" panose="05000000000000000000" pitchFamily="2" charset="2"/>
              <a:buChar char="Ø"/>
            </a:pPr>
            <a:r>
              <a:rPr lang="en-US" sz="1600" b="1" dirty="0"/>
              <a:t>GitHub Copilot </a:t>
            </a:r>
            <a:r>
              <a:rPr lang="en-US" sz="1600" dirty="0"/>
              <a:t>is a cloud-based AI pair programming tool developed by </a:t>
            </a:r>
            <a:r>
              <a:rPr lang="en-US" sz="1600" b="1" dirty="0"/>
              <a:t>GitHub </a:t>
            </a:r>
            <a:r>
              <a:rPr lang="en-US" sz="1600" dirty="0"/>
              <a:t>and </a:t>
            </a:r>
            <a:r>
              <a:rPr lang="en-US" sz="1600" b="1" dirty="0"/>
              <a:t>Open AI </a:t>
            </a:r>
            <a:r>
              <a:rPr lang="en-US" sz="1600" dirty="0"/>
              <a:t>based on OpenAI codex model to autocomplete and suggest code and entire functions for faster development, It could also generate code from scratch from a well documented code comments.</a:t>
            </a:r>
          </a:p>
          <a:p>
            <a:pPr algn="just">
              <a:lnSpc>
                <a:spcPct val="150000"/>
              </a:lnSpc>
            </a:pPr>
            <a:endParaRPr lang="en-US" sz="1600" dirty="0"/>
          </a:p>
          <a:p>
            <a:pPr marL="285750" indent="-285750" algn="just">
              <a:lnSpc>
                <a:spcPct val="150000"/>
              </a:lnSpc>
              <a:buFont typeface="Wingdings" panose="05000000000000000000" pitchFamily="2" charset="2"/>
              <a:buChar char="Ø"/>
            </a:pPr>
            <a:r>
              <a:rPr lang="en-US" sz="1600" b="1" dirty="0"/>
              <a:t>GitHub</a:t>
            </a:r>
            <a:r>
              <a:rPr lang="en-US" sz="1600" dirty="0"/>
              <a:t> Copilot integrates directly into your editor including </a:t>
            </a:r>
            <a:r>
              <a:rPr lang="en-US" sz="1600" b="1" dirty="0" err="1"/>
              <a:t>Neovim</a:t>
            </a:r>
            <a:r>
              <a:rPr lang="en-US" sz="1600" b="1" dirty="0"/>
              <a:t>, JetBrains IDEs, Visual Studio, </a:t>
            </a:r>
            <a:r>
              <a:rPr lang="en-US" sz="1600" dirty="0"/>
              <a:t>and</a:t>
            </a:r>
            <a:r>
              <a:rPr lang="en-US" sz="1600" b="1" dirty="0"/>
              <a:t> Visual Studio Code.</a:t>
            </a:r>
          </a:p>
          <a:p>
            <a:pPr algn="just">
              <a:lnSpc>
                <a:spcPct val="150000"/>
              </a:lnSpc>
            </a:pPr>
            <a:endParaRPr lang="en-US" sz="1600" dirty="0"/>
          </a:p>
          <a:p>
            <a:pPr marL="285750" indent="-285750" algn="just">
              <a:lnSpc>
                <a:spcPct val="150000"/>
              </a:lnSpc>
              <a:buFont typeface="Wingdings" panose="05000000000000000000" pitchFamily="2" charset="2"/>
              <a:buChar char="Ø"/>
            </a:pPr>
            <a:r>
              <a:rPr lang="en-US" sz="1600" b="1" dirty="0"/>
              <a:t>GitHub Copilot </a:t>
            </a:r>
            <a:r>
              <a:rPr lang="en-US" sz="1600" dirty="0"/>
              <a:t>provides suggestions for numerous languages and a wide variety of frameworks, but works especially well for </a:t>
            </a:r>
            <a:r>
              <a:rPr lang="en-US" sz="1600" b="1" dirty="0"/>
              <a:t>Python, JavaScript, TypeScript, Ruby, Go, C#,</a:t>
            </a:r>
            <a:r>
              <a:rPr lang="en-US" sz="1600" dirty="0"/>
              <a:t> and </a:t>
            </a:r>
            <a:r>
              <a:rPr lang="en-US" sz="1600" b="1" dirty="0"/>
              <a:t>C++.</a:t>
            </a:r>
          </a:p>
          <a:p>
            <a:pPr algn="just">
              <a:lnSpc>
                <a:spcPct val="150000"/>
              </a:lnSpc>
            </a:pPr>
            <a:endParaRPr lang="en-US" sz="1600" b="1" dirty="0"/>
          </a:p>
          <a:p>
            <a:pPr marL="285750" indent="-285750" algn="just">
              <a:lnSpc>
                <a:spcPct val="150000"/>
              </a:lnSpc>
              <a:buFont typeface="Wingdings" panose="05000000000000000000" pitchFamily="2" charset="2"/>
              <a:buChar char="Ø"/>
            </a:pPr>
            <a:r>
              <a:rPr lang="en-US" sz="1600" b="1" dirty="0"/>
              <a:t>GitHub Copilot History:</a:t>
            </a:r>
            <a:endParaRPr lang="en-US" sz="1600" dirty="0"/>
          </a:p>
          <a:p>
            <a:pPr algn="just">
              <a:lnSpc>
                <a:spcPct val="150000"/>
              </a:lnSpc>
            </a:pPr>
            <a:r>
              <a:rPr lang="en-US" sz="1600" dirty="0"/>
              <a:t>On June 29, 2021, GitHub announced GitHub Copilot for technical preview in the Visual Studio Code development environment. GitHub announced Copilot's availability for the Visual Studio 2022 IDE on March 29, 2022. On June 21, 2022, GitHub announced that Copilot was out of "technical preview" and is available as a subscription-based service for individual developers.</a:t>
            </a:r>
          </a:p>
        </p:txBody>
      </p:sp>
    </p:spTree>
    <p:extLst>
      <p:ext uri="{BB962C8B-B14F-4D97-AF65-F5344CB8AC3E}">
        <p14:creationId xmlns:p14="http://schemas.microsoft.com/office/powerpoint/2010/main" val="27362517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62B060-E57B-E49C-B249-762AAA726618}"/>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A3168559-E8BC-392E-F865-926F1500C264}"/>
              </a:ext>
            </a:extLst>
          </p:cNvPr>
          <p:cNvSpPr>
            <a:spLocks noGrp="1"/>
          </p:cNvSpPr>
          <p:nvPr>
            <p:ph type="title"/>
          </p:nvPr>
        </p:nvSpPr>
        <p:spPr>
          <a:xfrm>
            <a:off x="252249" y="365125"/>
            <a:ext cx="8931510" cy="689297"/>
          </a:xfrm>
        </p:spPr>
        <p:txBody>
          <a:bodyPr anchor="ctr">
            <a:noAutofit/>
          </a:bodyPr>
          <a:lstStyle/>
          <a:p>
            <a:pPr algn="l">
              <a:lnSpc>
                <a:spcPct val="100000"/>
              </a:lnSpc>
            </a:pPr>
            <a:r>
              <a:rPr lang="en-US" sz="2800" b="1" dirty="0">
                <a:latin typeface="Segoe UI" panose="020B0502040204020203" pitchFamily="34" charset="0"/>
                <a:cs typeface="Segoe UI" panose="020B0502040204020203" pitchFamily="34" charset="0"/>
              </a:rPr>
              <a:t>What’s GitHub Copilot</a:t>
            </a:r>
            <a:endParaRPr lang="en-US" sz="2800" dirty="0">
              <a:latin typeface="Segoe UI" panose="020B0502040204020203" pitchFamily="34" charset="0"/>
              <a:cs typeface="Segoe UI" panose="020B0502040204020203" pitchFamily="34" charset="0"/>
            </a:endParaRPr>
          </a:p>
        </p:txBody>
      </p:sp>
      <p:sp>
        <p:nvSpPr>
          <p:cNvPr id="3" name="Title 4">
            <a:extLst>
              <a:ext uri="{FF2B5EF4-FFF2-40B4-BE49-F238E27FC236}">
                <a16:creationId xmlns:a16="http://schemas.microsoft.com/office/drawing/2014/main" id="{072C65C8-3C62-7EFA-7F03-88CBE2E1AF66}"/>
              </a:ext>
            </a:extLst>
          </p:cNvPr>
          <p:cNvSpPr txBox="1">
            <a:spLocks/>
          </p:cNvSpPr>
          <p:nvPr/>
        </p:nvSpPr>
        <p:spPr>
          <a:xfrm>
            <a:off x="606705" y="1498070"/>
            <a:ext cx="7472424" cy="4614381"/>
          </a:xfrm>
          <a:prstGeom prst="rect">
            <a:avLst/>
          </a:prstGeom>
        </p:spPr>
        <p:txBody>
          <a:bodyPr vert="horz" lIns="91440" tIns="45720" rIns="91440" bIns="45720" rtlCol="0">
            <a:normAutofit/>
          </a:bodyPr>
          <a:lstStyle>
            <a:lvl1pPr algn="l" defTabSz="1015990" rtl="0" eaLnBrk="1" latinLnBrk="0" hangingPunct="1">
              <a:lnSpc>
                <a:spcPct val="90000"/>
              </a:lnSpc>
              <a:spcBef>
                <a:spcPct val="0"/>
              </a:spcBef>
              <a:buNone/>
              <a:defRPr sz="3111" kern="1200">
                <a:solidFill>
                  <a:schemeClr val="tx1"/>
                </a:solidFill>
                <a:latin typeface="Segoe UI" panose="020B0502040204020203" pitchFamily="34" charset="0"/>
                <a:ea typeface="Open Sans Light" panose="020B0306030504020204" pitchFamily="34" charset="0"/>
                <a:cs typeface="Segoe UI" panose="020B0502040204020203" pitchFamily="34" charset="0"/>
              </a:defRPr>
            </a:lvl1pPr>
          </a:lstStyle>
          <a:p>
            <a:pPr marL="285750" indent="-285750" defTabSz="914400">
              <a:spcBef>
                <a:spcPts val="1000"/>
              </a:spcBef>
              <a:buFont typeface="Wingdings" panose="05000000000000000000" pitchFamily="2" charset="2"/>
              <a:buChar char="Ø"/>
            </a:pPr>
            <a:r>
              <a:rPr lang="en-US" sz="1400" b="1" dirty="0">
                <a:ea typeface="+mn-ea"/>
              </a:rPr>
              <a:t>GitHub Copilot </a:t>
            </a:r>
            <a:r>
              <a:rPr lang="en-US" sz="1400" dirty="0">
                <a:ea typeface="+mn-ea"/>
              </a:rPr>
              <a:t>is a cloud-based AI pair programming tool developed by </a:t>
            </a:r>
            <a:r>
              <a:rPr lang="en-US" sz="1400" b="1" dirty="0">
                <a:ea typeface="+mn-ea"/>
              </a:rPr>
              <a:t>GitHub </a:t>
            </a:r>
            <a:r>
              <a:rPr lang="en-US" sz="1400" dirty="0">
                <a:ea typeface="+mn-ea"/>
              </a:rPr>
              <a:t>and </a:t>
            </a:r>
            <a:r>
              <a:rPr lang="en-US" sz="1400" b="1" dirty="0">
                <a:ea typeface="+mn-ea"/>
              </a:rPr>
              <a:t>Open AI </a:t>
            </a:r>
            <a:r>
              <a:rPr lang="en-US" sz="1400" dirty="0">
                <a:ea typeface="+mn-ea"/>
              </a:rPr>
              <a:t>based on OpenAI codex model to autocomplete and suggest code and entire functions for faster development, It could also generate code from scratch from a well documented code comments.</a:t>
            </a:r>
          </a:p>
          <a:p>
            <a:pPr marL="285750" indent="-285750" defTabSz="914400">
              <a:spcBef>
                <a:spcPts val="1000"/>
              </a:spcBef>
              <a:buFont typeface="Wingdings" panose="05000000000000000000" pitchFamily="2" charset="2"/>
              <a:buChar char="Ø"/>
            </a:pPr>
            <a:endParaRPr lang="en-US" sz="1400" dirty="0">
              <a:ea typeface="+mn-ea"/>
            </a:endParaRPr>
          </a:p>
          <a:p>
            <a:pPr marL="285750" indent="-285750" defTabSz="914400">
              <a:spcBef>
                <a:spcPts val="1000"/>
              </a:spcBef>
              <a:buFont typeface="Wingdings" panose="05000000000000000000" pitchFamily="2" charset="2"/>
              <a:buChar char="Ø"/>
            </a:pPr>
            <a:r>
              <a:rPr lang="en-US" sz="1400" b="1" dirty="0">
                <a:ea typeface="+mn-ea"/>
              </a:rPr>
              <a:t>GitHub</a:t>
            </a:r>
            <a:r>
              <a:rPr lang="en-US" sz="1400" dirty="0">
                <a:ea typeface="+mn-ea"/>
              </a:rPr>
              <a:t> Copilot integrates directly into your editor including </a:t>
            </a:r>
            <a:r>
              <a:rPr lang="en-US" sz="1400" b="1" dirty="0" err="1">
                <a:ea typeface="+mn-ea"/>
              </a:rPr>
              <a:t>Neovim</a:t>
            </a:r>
            <a:r>
              <a:rPr lang="en-US" sz="1400" b="1" dirty="0">
                <a:ea typeface="+mn-ea"/>
              </a:rPr>
              <a:t>, JetBrains IDEs, Visual Studio, </a:t>
            </a:r>
            <a:r>
              <a:rPr lang="en-US" sz="1400" dirty="0">
                <a:ea typeface="+mn-ea"/>
              </a:rPr>
              <a:t>and</a:t>
            </a:r>
            <a:r>
              <a:rPr lang="en-US" sz="1400" b="1" dirty="0">
                <a:ea typeface="+mn-ea"/>
              </a:rPr>
              <a:t> Visual Studio Code.</a:t>
            </a:r>
          </a:p>
          <a:p>
            <a:pPr marL="285750" indent="-285750" defTabSz="914400">
              <a:spcBef>
                <a:spcPts val="1000"/>
              </a:spcBef>
              <a:buFont typeface="Wingdings" panose="05000000000000000000" pitchFamily="2" charset="2"/>
              <a:buChar char="Ø"/>
            </a:pPr>
            <a:endParaRPr lang="en-US" sz="1400" dirty="0">
              <a:ea typeface="+mn-ea"/>
            </a:endParaRPr>
          </a:p>
          <a:p>
            <a:pPr marL="285750" indent="-285750" defTabSz="914400">
              <a:spcBef>
                <a:spcPts val="1000"/>
              </a:spcBef>
              <a:buFont typeface="Wingdings" panose="05000000000000000000" pitchFamily="2" charset="2"/>
              <a:buChar char="Ø"/>
            </a:pPr>
            <a:r>
              <a:rPr lang="en-US" sz="1400" b="1" dirty="0">
                <a:ea typeface="+mn-ea"/>
              </a:rPr>
              <a:t>GitHub Copilot </a:t>
            </a:r>
            <a:r>
              <a:rPr lang="en-US" sz="1400" dirty="0">
                <a:ea typeface="+mn-ea"/>
              </a:rPr>
              <a:t>provides suggestions for numerous languages and a wide variety of frameworks, but works especially well for </a:t>
            </a:r>
            <a:r>
              <a:rPr lang="en-US" sz="1400" b="1" dirty="0">
                <a:ea typeface="+mn-ea"/>
              </a:rPr>
              <a:t>Python, JavaScript, TypeScript, Ruby, Go, C#,</a:t>
            </a:r>
            <a:r>
              <a:rPr lang="en-US" sz="1400" dirty="0">
                <a:ea typeface="+mn-ea"/>
              </a:rPr>
              <a:t> and </a:t>
            </a:r>
            <a:r>
              <a:rPr lang="en-US" sz="1400" b="1" dirty="0">
                <a:ea typeface="+mn-ea"/>
              </a:rPr>
              <a:t>C++.</a:t>
            </a:r>
          </a:p>
          <a:p>
            <a:pPr marL="285750" indent="-285750" defTabSz="914400">
              <a:spcBef>
                <a:spcPts val="1000"/>
              </a:spcBef>
              <a:buFont typeface="Wingdings" panose="05000000000000000000" pitchFamily="2" charset="2"/>
              <a:buChar char="Ø"/>
            </a:pPr>
            <a:endParaRPr lang="en-US" sz="1400" b="1" dirty="0">
              <a:ea typeface="+mn-ea"/>
            </a:endParaRPr>
          </a:p>
          <a:p>
            <a:pPr marL="285750" indent="-285750" defTabSz="914400">
              <a:spcBef>
                <a:spcPts val="1000"/>
              </a:spcBef>
              <a:buFont typeface="Wingdings" panose="05000000000000000000" pitchFamily="2" charset="2"/>
              <a:buChar char="Ø"/>
            </a:pPr>
            <a:r>
              <a:rPr lang="en-US" sz="1400" b="1" dirty="0">
                <a:ea typeface="+mn-ea"/>
              </a:rPr>
              <a:t>GitHub Copilot History:</a:t>
            </a:r>
            <a:endParaRPr lang="en-US" sz="1400" dirty="0">
              <a:ea typeface="+mn-ea"/>
            </a:endParaRPr>
          </a:p>
          <a:p>
            <a:pPr defTabSz="914400">
              <a:spcBef>
                <a:spcPts val="1000"/>
              </a:spcBef>
            </a:pPr>
            <a:r>
              <a:rPr lang="en-US" sz="1400" dirty="0">
                <a:ea typeface="+mn-ea"/>
              </a:rPr>
              <a:t>On June 29, 2021, GitHub announced GitHub Copilot for technical preview in the Visual Studio Code development environment. GitHub announced Copilot's availability for the Visual Studio 2022 IDE on March 29, 2022. On June 21, 2022, GitHub announced that Copilot was out of "technical preview" and is available as a subscription-based service for individual developers.</a:t>
            </a:r>
          </a:p>
        </p:txBody>
      </p:sp>
      <p:grpSp>
        <p:nvGrpSpPr>
          <p:cNvPr id="5" name="Group 4">
            <a:extLst>
              <a:ext uri="{FF2B5EF4-FFF2-40B4-BE49-F238E27FC236}">
                <a16:creationId xmlns:a16="http://schemas.microsoft.com/office/drawing/2014/main" id="{777696A4-185C-75BB-6961-A39D52801413}"/>
              </a:ext>
            </a:extLst>
          </p:cNvPr>
          <p:cNvGrpSpPr/>
          <p:nvPr/>
        </p:nvGrpSpPr>
        <p:grpSpPr>
          <a:xfrm>
            <a:off x="8499072" y="1180617"/>
            <a:ext cx="3086223" cy="4827664"/>
            <a:chOff x="0" y="0"/>
            <a:chExt cx="3155442" cy="5274780"/>
          </a:xfrm>
        </p:grpSpPr>
        <p:pic>
          <p:nvPicPr>
            <p:cNvPr id="6" name="Picture 5">
              <a:extLst>
                <a:ext uri="{FF2B5EF4-FFF2-40B4-BE49-F238E27FC236}">
                  <a16:creationId xmlns:a16="http://schemas.microsoft.com/office/drawing/2014/main" id="{F4E93C42-1E8D-9B1F-15BB-E9FFD99C7DAA}"/>
                </a:ext>
              </a:extLst>
            </p:cNvPr>
            <p:cNvPicPr/>
            <p:nvPr/>
          </p:nvPicPr>
          <p:blipFill>
            <a:blip r:embed="rId3"/>
            <a:stretch>
              <a:fillRect/>
            </a:stretch>
          </p:blipFill>
          <p:spPr>
            <a:xfrm>
              <a:off x="0" y="0"/>
              <a:ext cx="3155442" cy="1664462"/>
            </a:xfrm>
            <a:prstGeom prst="rect">
              <a:avLst/>
            </a:prstGeom>
          </p:spPr>
        </p:pic>
        <p:pic>
          <p:nvPicPr>
            <p:cNvPr id="7" name="Picture 6">
              <a:extLst>
                <a:ext uri="{FF2B5EF4-FFF2-40B4-BE49-F238E27FC236}">
                  <a16:creationId xmlns:a16="http://schemas.microsoft.com/office/drawing/2014/main" id="{C610DDC8-0B1D-0EC8-B883-0FBB8E3C9AED}"/>
                </a:ext>
              </a:extLst>
            </p:cNvPr>
            <p:cNvPicPr/>
            <p:nvPr/>
          </p:nvPicPr>
          <p:blipFill>
            <a:blip r:embed="rId4"/>
            <a:stretch>
              <a:fillRect/>
            </a:stretch>
          </p:blipFill>
          <p:spPr>
            <a:xfrm>
              <a:off x="0" y="1733296"/>
              <a:ext cx="3155442" cy="1692529"/>
            </a:xfrm>
            <a:prstGeom prst="rect">
              <a:avLst/>
            </a:prstGeom>
          </p:spPr>
        </p:pic>
        <p:pic>
          <p:nvPicPr>
            <p:cNvPr id="8" name="Picture 7">
              <a:extLst>
                <a:ext uri="{FF2B5EF4-FFF2-40B4-BE49-F238E27FC236}">
                  <a16:creationId xmlns:a16="http://schemas.microsoft.com/office/drawing/2014/main" id="{176D903A-3A72-CC04-C8BB-F68161684833}"/>
                </a:ext>
              </a:extLst>
            </p:cNvPr>
            <p:cNvPicPr/>
            <p:nvPr/>
          </p:nvPicPr>
          <p:blipFill>
            <a:blip r:embed="rId5"/>
            <a:stretch>
              <a:fillRect/>
            </a:stretch>
          </p:blipFill>
          <p:spPr>
            <a:xfrm>
              <a:off x="0" y="3584283"/>
              <a:ext cx="3155442" cy="1690497"/>
            </a:xfrm>
            <a:prstGeom prst="rect">
              <a:avLst/>
            </a:prstGeom>
          </p:spPr>
        </p:pic>
      </p:grpSp>
    </p:spTree>
    <p:extLst>
      <p:ext uri="{BB962C8B-B14F-4D97-AF65-F5344CB8AC3E}">
        <p14:creationId xmlns:p14="http://schemas.microsoft.com/office/powerpoint/2010/main" val="18143486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0AEC67-2E19-5265-2892-5D284EC6FCA5}"/>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86C8088D-72D1-1577-A187-0BBEE24C068F}"/>
              </a:ext>
            </a:extLst>
          </p:cNvPr>
          <p:cNvSpPr>
            <a:spLocks noGrp="1"/>
          </p:cNvSpPr>
          <p:nvPr>
            <p:ph type="title"/>
          </p:nvPr>
        </p:nvSpPr>
        <p:spPr>
          <a:xfrm>
            <a:off x="252249" y="365125"/>
            <a:ext cx="8931510" cy="689297"/>
          </a:xfrm>
        </p:spPr>
        <p:txBody>
          <a:bodyPr anchor="ctr">
            <a:noAutofit/>
          </a:bodyPr>
          <a:lstStyle/>
          <a:p>
            <a:pPr algn="l">
              <a:lnSpc>
                <a:spcPct val="100000"/>
              </a:lnSpc>
            </a:pPr>
            <a:r>
              <a:rPr lang="en-US" sz="2800" b="1" dirty="0">
                <a:latin typeface="Segoe UI" panose="020B0502040204020203" pitchFamily="34" charset="0"/>
                <a:cs typeface="Segoe UI" panose="020B0502040204020203" pitchFamily="34" charset="0"/>
              </a:rPr>
              <a:t>What’s GitHub Copilot</a:t>
            </a:r>
            <a:endParaRPr lang="en-US" sz="2800" dirty="0">
              <a:latin typeface="Segoe UI" panose="020B0502040204020203" pitchFamily="34" charset="0"/>
              <a:cs typeface="Segoe UI" panose="020B0502040204020203" pitchFamily="34" charset="0"/>
            </a:endParaRPr>
          </a:p>
        </p:txBody>
      </p:sp>
      <p:grpSp>
        <p:nvGrpSpPr>
          <p:cNvPr id="2" name="Group 1">
            <a:extLst>
              <a:ext uri="{FF2B5EF4-FFF2-40B4-BE49-F238E27FC236}">
                <a16:creationId xmlns:a16="http://schemas.microsoft.com/office/drawing/2014/main" id="{75CE2F12-0406-2FEC-5E09-990F36F481FB}"/>
              </a:ext>
            </a:extLst>
          </p:cNvPr>
          <p:cNvGrpSpPr/>
          <p:nvPr/>
        </p:nvGrpSpPr>
        <p:grpSpPr>
          <a:xfrm>
            <a:off x="404129" y="1460221"/>
            <a:ext cx="11383742" cy="4418063"/>
            <a:chOff x="0" y="0"/>
            <a:chExt cx="10551911" cy="3804158"/>
          </a:xfrm>
        </p:grpSpPr>
        <p:pic>
          <p:nvPicPr>
            <p:cNvPr id="9" name="Picture 8">
              <a:extLst>
                <a:ext uri="{FF2B5EF4-FFF2-40B4-BE49-F238E27FC236}">
                  <a16:creationId xmlns:a16="http://schemas.microsoft.com/office/drawing/2014/main" id="{7A541537-4ECD-A291-516C-212049AFBE8A}"/>
                </a:ext>
              </a:extLst>
            </p:cNvPr>
            <p:cNvPicPr/>
            <p:nvPr/>
          </p:nvPicPr>
          <p:blipFill>
            <a:blip r:embed="rId3"/>
            <a:stretch>
              <a:fillRect/>
            </a:stretch>
          </p:blipFill>
          <p:spPr>
            <a:xfrm>
              <a:off x="0" y="0"/>
              <a:ext cx="6686550" cy="3804158"/>
            </a:xfrm>
            <a:prstGeom prst="rect">
              <a:avLst/>
            </a:prstGeom>
          </p:spPr>
        </p:pic>
        <p:pic>
          <p:nvPicPr>
            <p:cNvPr id="10" name="Picture 9">
              <a:extLst>
                <a:ext uri="{FF2B5EF4-FFF2-40B4-BE49-F238E27FC236}">
                  <a16:creationId xmlns:a16="http://schemas.microsoft.com/office/drawing/2014/main" id="{C78F794F-C89E-BCFB-1638-F9A1B0AAA018}"/>
                </a:ext>
              </a:extLst>
            </p:cNvPr>
            <p:cNvPicPr/>
            <p:nvPr/>
          </p:nvPicPr>
          <p:blipFill>
            <a:blip r:embed="rId4"/>
            <a:stretch>
              <a:fillRect/>
            </a:stretch>
          </p:blipFill>
          <p:spPr>
            <a:xfrm>
              <a:off x="7118465" y="0"/>
              <a:ext cx="3433446" cy="3804158"/>
            </a:xfrm>
            <a:prstGeom prst="rect">
              <a:avLst/>
            </a:prstGeom>
          </p:spPr>
        </p:pic>
      </p:grpSp>
    </p:spTree>
    <p:extLst>
      <p:ext uri="{BB962C8B-B14F-4D97-AF65-F5344CB8AC3E}">
        <p14:creationId xmlns:p14="http://schemas.microsoft.com/office/powerpoint/2010/main" val="6793865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390F6C-C230-35ED-8F11-D275D9DEFCD0}"/>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77701449-92D6-6E00-D7EC-7803D565F47D}"/>
              </a:ext>
            </a:extLst>
          </p:cNvPr>
          <p:cNvSpPr>
            <a:spLocks noGrp="1"/>
          </p:cNvSpPr>
          <p:nvPr>
            <p:ph type="title"/>
          </p:nvPr>
        </p:nvSpPr>
        <p:spPr>
          <a:xfrm>
            <a:off x="252249" y="365125"/>
            <a:ext cx="8931510" cy="689297"/>
          </a:xfrm>
        </p:spPr>
        <p:txBody>
          <a:bodyPr anchor="ctr">
            <a:noAutofit/>
          </a:bodyPr>
          <a:lstStyle/>
          <a:p>
            <a:pPr algn="l">
              <a:lnSpc>
                <a:spcPct val="100000"/>
              </a:lnSpc>
            </a:pPr>
            <a:r>
              <a:rPr lang="en-US" sz="2800" b="1" dirty="0">
                <a:latin typeface="Segoe UI" panose="020B0502040204020203" pitchFamily="34" charset="0"/>
                <a:cs typeface="Segoe UI" panose="020B0502040204020203" pitchFamily="34" charset="0"/>
              </a:rPr>
              <a:t>What’s GitHub Copilot</a:t>
            </a:r>
            <a:endParaRPr lang="en-US" sz="2800" dirty="0">
              <a:latin typeface="Segoe UI" panose="020B0502040204020203" pitchFamily="34" charset="0"/>
              <a:cs typeface="Segoe UI" panose="020B0502040204020203" pitchFamily="34" charset="0"/>
            </a:endParaRPr>
          </a:p>
        </p:txBody>
      </p:sp>
      <p:pic>
        <p:nvPicPr>
          <p:cNvPr id="5" name="Picture 4">
            <a:extLst>
              <a:ext uri="{FF2B5EF4-FFF2-40B4-BE49-F238E27FC236}">
                <a16:creationId xmlns:a16="http://schemas.microsoft.com/office/drawing/2014/main" id="{B35295CE-9A78-9F44-2AF6-9AAF57624681}"/>
              </a:ext>
            </a:extLst>
          </p:cNvPr>
          <p:cNvPicPr>
            <a:picLocks noChangeAspect="1"/>
          </p:cNvPicPr>
          <p:nvPr/>
        </p:nvPicPr>
        <p:blipFill>
          <a:blip r:embed="rId3"/>
          <a:stretch>
            <a:fillRect/>
          </a:stretch>
        </p:blipFill>
        <p:spPr>
          <a:xfrm>
            <a:off x="2889615" y="1177547"/>
            <a:ext cx="6412770" cy="4960691"/>
          </a:xfrm>
          <a:prstGeom prst="rect">
            <a:avLst/>
          </a:prstGeom>
        </p:spPr>
      </p:pic>
    </p:spTree>
    <p:extLst>
      <p:ext uri="{BB962C8B-B14F-4D97-AF65-F5344CB8AC3E}">
        <p14:creationId xmlns:p14="http://schemas.microsoft.com/office/powerpoint/2010/main" val="22645753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77C1CA-3D33-6973-BAB5-118F9D5D3BB7}"/>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DA21DB27-221E-54AD-59D6-FA50CADF64E3}"/>
              </a:ext>
            </a:extLst>
          </p:cNvPr>
          <p:cNvSpPr>
            <a:spLocks noGrp="1"/>
          </p:cNvSpPr>
          <p:nvPr>
            <p:ph type="title"/>
          </p:nvPr>
        </p:nvSpPr>
        <p:spPr>
          <a:xfrm>
            <a:off x="252249" y="365125"/>
            <a:ext cx="8931510" cy="689297"/>
          </a:xfrm>
        </p:spPr>
        <p:txBody>
          <a:bodyPr anchor="ctr">
            <a:noAutofit/>
          </a:bodyPr>
          <a:lstStyle/>
          <a:p>
            <a:pPr algn="l">
              <a:lnSpc>
                <a:spcPct val="100000"/>
              </a:lnSpc>
            </a:pPr>
            <a:r>
              <a:rPr lang="en-US" sz="2800" b="1" dirty="0">
                <a:latin typeface="Segoe UI" panose="020B0502040204020203" pitchFamily="34" charset="0"/>
                <a:cs typeface="Segoe UI" panose="020B0502040204020203" pitchFamily="34" charset="0"/>
              </a:rPr>
              <a:t>GitHub Copilot Use Cases</a:t>
            </a:r>
            <a:endParaRPr lang="en-US" sz="2800" dirty="0">
              <a:latin typeface="Segoe UI" panose="020B0502040204020203" pitchFamily="34" charset="0"/>
              <a:cs typeface="Segoe UI" panose="020B0502040204020203" pitchFamily="34" charset="0"/>
            </a:endParaRPr>
          </a:p>
        </p:txBody>
      </p:sp>
      <p:sp>
        <p:nvSpPr>
          <p:cNvPr id="3" name="Title 4">
            <a:extLst>
              <a:ext uri="{FF2B5EF4-FFF2-40B4-BE49-F238E27FC236}">
                <a16:creationId xmlns:a16="http://schemas.microsoft.com/office/drawing/2014/main" id="{2055A5E9-28D3-BA89-FFEE-837520872CBA}"/>
              </a:ext>
            </a:extLst>
          </p:cNvPr>
          <p:cNvSpPr txBox="1">
            <a:spLocks/>
          </p:cNvSpPr>
          <p:nvPr/>
        </p:nvSpPr>
        <p:spPr>
          <a:xfrm>
            <a:off x="606704" y="1498070"/>
            <a:ext cx="5954734" cy="4614381"/>
          </a:xfrm>
          <a:prstGeom prst="rect">
            <a:avLst/>
          </a:prstGeom>
        </p:spPr>
        <p:txBody>
          <a:bodyPr vert="horz" lIns="91440" tIns="45720" rIns="91440" bIns="45720" rtlCol="0">
            <a:normAutofit lnSpcReduction="10000"/>
          </a:bodyPr>
          <a:lstStyle>
            <a:lvl1pPr algn="l" defTabSz="1015990" rtl="0" eaLnBrk="1" latinLnBrk="0" hangingPunct="1">
              <a:lnSpc>
                <a:spcPct val="90000"/>
              </a:lnSpc>
              <a:spcBef>
                <a:spcPct val="0"/>
              </a:spcBef>
              <a:buNone/>
              <a:defRPr sz="3111" kern="1200">
                <a:solidFill>
                  <a:schemeClr val="tx1"/>
                </a:solidFill>
                <a:latin typeface="Segoe UI" panose="020B0502040204020203" pitchFamily="34" charset="0"/>
                <a:ea typeface="Open Sans Light" panose="020B0306030504020204" pitchFamily="34" charset="0"/>
                <a:cs typeface="Segoe UI" panose="020B0502040204020203" pitchFamily="34" charset="0"/>
              </a:defRPr>
            </a:lvl1pPr>
          </a:lstStyle>
          <a:p>
            <a:pPr marL="285750" indent="-285750" defTabSz="914400">
              <a:lnSpc>
                <a:spcPct val="150000"/>
              </a:lnSpc>
              <a:spcBef>
                <a:spcPts val="1000"/>
              </a:spcBef>
              <a:buFont typeface="Wingdings" panose="05000000000000000000" pitchFamily="2" charset="2"/>
              <a:buChar char="Ø"/>
            </a:pPr>
            <a:r>
              <a:rPr lang="en-US" sz="1400" dirty="0"/>
              <a:t>Code generation and suggestions</a:t>
            </a:r>
          </a:p>
          <a:p>
            <a:pPr marL="285750" indent="-285750" defTabSz="914400">
              <a:lnSpc>
                <a:spcPct val="150000"/>
              </a:lnSpc>
              <a:spcBef>
                <a:spcPts val="1000"/>
              </a:spcBef>
              <a:buFont typeface="Wingdings" panose="05000000000000000000" pitchFamily="2" charset="2"/>
              <a:buChar char="Ø"/>
            </a:pPr>
            <a:r>
              <a:rPr lang="en-US" sz="1400" dirty="0"/>
              <a:t>Unit test generation</a:t>
            </a:r>
          </a:p>
          <a:p>
            <a:pPr marL="285750" indent="-285750" defTabSz="914400">
              <a:lnSpc>
                <a:spcPct val="150000"/>
              </a:lnSpc>
              <a:spcBef>
                <a:spcPts val="1000"/>
              </a:spcBef>
              <a:buFont typeface="Wingdings" panose="05000000000000000000" pitchFamily="2" charset="2"/>
              <a:buChar char="Ø"/>
            </a:pPr>
            <a:r>
              <a:rPr lang="en-US" sz="1400" dirty="0"/>
              <a:t>Code reviews and refactoring </a:t>
            </a:r>
          </a:p>
          <a:p>
            <a:pPr marL="285750" indent="-285750" defTabSz="914400">
              <a:lnSpc>
                <a:spcPct val="150000"/>
              </a:lnSpc>
              <a:spcBef>
                <a:spcPts val="1000"/>
              </a:spcBef>
              <a:buFont typeface="Wingdings" panose="05000000000000000000" pitchFamily="2" charset="2"/>
              <a:buChar char="Ø"/>
            </a:pPr>
            <a:r>
              <a:rPr lang="en-US" sz="1400" dirty="0"/>
              <a:t>Bug fixing </a:t>
            </a:r>
          </a:p>
          <a:p>
            <a:pPr marL="285750" indent="-285750" defTabSz="914400">
              <a:lnSpc>
                <a:spcPct val="150000"/>
              </a:lnSpc>
              <a:spcBef>
                <a:spcPts val="1000"/>
              </a:spcBef>
              <a:buFont typeface="Wingdings" panose="05000000000000000000" pitchFamily="2" charset="2"/>
              <a:buChar char="Ø"/>
            </a:pPr>
            <a:r>
              <a:rPr lang="en-US" sz="1400" dirty="0"/>
              <a:t>Generating code documentation and explaining code </a:t>
            </a:r>
          </a:p>
          <a:p>
            <a:pPr marL="285750" indent="-285750" defTabSz="914400">
              <a:lnSpc>
                <a:spcPct val="150000"/>
              </a:lnSpc>
              <a:spcBef>
                <a:spcPts val="1000"/>
              </a:spcBef>
              <a:buFont typeface="Wingdings" panose="05000000000000000000" pitchFamily="2" charset="2"/>
              <a:buChar char="Ø"/>
            </a:pPr>
            <a:r>
              <a:rPr lang="en-US" sz="1400" dirty="0"/>
              <a:t>Generating SQL queries </a:t>
            </a:r>
          </a:p>
          <a:p>
            <a:pPr marL="285750" indent="-285750" defTabSz="914400">
              <a:lnSpc>
                <a:spcPct val="150000"/>
              </a:lnSpc>
              <a:spcBef>
                <a:spcPts val="1000"/>
              </a:spcBef>
              <a:buFont typeface="Wingdings" panose="05000000000000000000" pitchFamily="2" charset="2"/>
              <a:buChar char="Ø"/>
            </a:pPr>
            <a:r>
              <a:rPr lang="en-US" sz="1400" dirty="0"/>
              <a:t>GitHub Copilot Chat </a:t>
            </a:r>
          </a:p>
          <a:p>
            <a:pPr marL="285750" indent="-285750" defTabSz="914400">
              <a:lnSpc>
                <a:spcPct val="150000"/>
              </a:lnSpc>
              <a:spcBef>
                <a:spcPts val="1000"/>
              </a:spcBef>
              <a:buFont typeface="Wingdings" panose="05000000000000000000" pitchFamily="2" charset="2"/>
              <a:buChar char="Ø"/>
            </a:pPr>
            <a:r>
              <a:rPr lang="en-US" sz="1400" dirty="0"/>
              <a:t>Cloud deployment guidance and troubleshooting (e.g., Azure, AWS)</a:t>
            </a:r>
          </a:p>
          <a:p>
            <a:pPr marL="285750" indent="-285750" defTabSz="914400">
              <a:lnSpc>
                <a:spcPct val="150000"/>
              </a:lnSpc>
              <a:spcBef>
                <a:spcPts val="1000"/>
              </a:spcBef>
              <a:buFont typeface="Wingdings" panose="05000000000000000000" pitchFamily="2" charset="2"/>
              <a:buChar char="Ø"/>
            </a:pPr>
            <a:r>
              <a:rPr lang="en-US" sz="1400" dirty="0"/>
              <a:t>Automating CI/CD pipeline tasks </a:t>
            </a:r>
          </a:p>
          <a:p>
            <a:pPr marL="285750" indent="-285750" defTabSz="914400">
              <a:lnSpc>
                <a:spcPct val="150000"/>
              </a:lnSpc>
              <a:spcBef>
                <a:spcPts val="1000"/>
              </a:spcBef>
              <a:buFont typeface="Wingdings" panose="05000000000000000000" pitchFamily="2" charset="2"/>
              <a:buChar char="Ø"/>
            </a:pPr>
            <a:r>
              <a:rPr lang="en-US" sz="1400" dirty="0"/>
              <a:t>Optimizing code performance </a:t>
            </a:r>
          </a:p>
          <a:p>
            <a:pPr marL="285750" indent="-285750" defTabSz="914400">
              <a:lnSpc>
                <a:spcPct val="150000"/>
              </a:lnSpc>
              <a:spcBef>
                <a:spcPts val="1000"/>
              </a:spcBef>
              <a:buFont typeface="Wingdings" panose="05000000000000000000" pitchFamily="2" charset="2"/>
              <a:buChar char="Ø"/>
            </a:pPr>
            <a:r>
              <a:rPr lang="en-US" sz="1400" dirty="0"/>
              <a:t>Command-line tool assistance </a:t>
            </a:r>
          </a:p>
        </p:txBody>
      </p:sp>
      <p:sp>
        <p:nvSpPr>
          <p:cNvPr id="2" name="Title 4">
            <a:extLst>
              <a:ext uri="{FF2B5EF4-FFF2-40B4-BE49-F238E27FC236}">
                <a16:creationId xmlns:a16="http://schemas.microsoft.com/office/drawing/2014/main" id="{231BBF4A-1FCE-B2AD-28DD-63500C9E656D}"/>
              </a:ext>
            </a:extLst>
          </p:cNvPr>
          <p:cNvSpPr txBox="1">
            <a:spLocks/>
          </p:cNvSpPr>
          <p:nvPr/>
        </p:nvSpPr>
        <p:spPr>
          <a:xfrm>
            <a:off x="6439111" y="1498069"/>
            <a:ext cx="5489295" cy="4614381"/>
          </a:xfrm>
          <a:prstGeom prst="rect">
            <a:avLst/>
          </a:prstGeom>
        </p:spPr>
        <p:txBody>
          <a:bodyPr vert="horz" lIns="91440" tIns="45720" rIns="91440" bIns="45720" rtlCol="0">
            <a:noAutofit/>
          </a:bodyPr>
          <a:lstStyle>
            <a:lvl1pPr algn="l" defTabSz="1015990" rtl="0" eaLnBrk="1" latinLnBrk="0" hangingPunct="1">
              <a:lnSpc>
                <a:spcPct val="90000"/>
              </a:lnSpc>
              <a:spcBef>
                <a:spcPct val="0"/>
              </a:spcBef>
              <a:buNone/>
              <a:defRPr sz="3111" kern="1200">
                <a:solidFill>
                  <a:schemeClr val="tx1"/>
                </a:solidFill>
                <a:latin typeface="Segoe UI" panose="020B0502040204020203" pitchFamily="34" charset="0"/>
                <a:ea typeface="Open Sans Light" panose="020B0306030504020204" pitchFamily="34" charset="0"/>
                <a:cs typeface="Segoe UI" panose="020B0502040204020203" pitchFamily="34" charset="0"/>
              </a:defRPr>
            </a:lvl1pPr>
          </a:lstStyle>
          <a:p>
            <a:pPr marL="285750" indent="-285750" defTabSz="914400">
              <a:lnSpc>
                <a:spcPct val="150000"/>
              </a:lnSpc>
              <a:spcBef>
                <a:spcPts val="1000"/>
              </a:spcBef>
              <a:buFont typeface="Wingdings" panose="05000000000000000000" pitchFamily="2" charset="2"/>
              <a:buChar char="Ø"/>
            </a:pPr>
            <a:r>
              <a:rPr lang="en-US" sz="1400" dirty="0"/>
              <a:t>Pull request summaries </a:t>
            </a:r>
          </a:p>
          <a:p>
            <a:pPr marL="285750" indent="-285750" defTabSz="914400">
              <a:lnSpc>
                <a:spcPct val="150000"/>
              </a:lnSpc>
              <a:spcBef>
                <a:spcPts val="1000"/>
              </a:spcBef>
              <a:buFont typeface="Wingdings" panose="05000000000000000000" pitchFamily="2" charset="2"/>
              <a:buChar char="Ø"/>
            </a:pPr>
            <a:r>
              <a:rPr lang="en-US" sz="1400" dirty="0"/>
              <a:t>Managing and interacting with cloud resources (e.g., Azure services) </a:t>
            </a:r>
          </a:p>
          <a:p>
            <a:pPr marL="285750" indent="-285750" defTabSz="914400">
              <a:lnSpc>
                <a:spcPct val="150000"/>
              </a:lnSpc>
              <a:spcBef>
                <a:spcPts val="1000"/>
              </a:spcBef>
              <a:buFont typeface="Wingdings" panose="05000000000000000000" pitchFamily="2" charset="2"/>
              <a:buChar char="Ø"/>
            </a:pPr>
            <a:r>
              <a:rPr lang="en-US" sz="1400" dirty="0"/>
              <a:t>Translating code between programming languages </a:t>
            </a:r>
          </a:p>
          <a:p>
            <a:pPr marL="285750" indent="-285750" defTabSz="914400">
              <a:lnSpc>
                <a:spcPct val="150000"/>
              </a:lnSpc>
              <a:spcBef>
                <a:spcPts val="1000"/>
              </a:spcBef>
              <a:buFont typeface="Wingdings" panose="05000000000000000000" pitchFamily="2" charset="2"/>
              <a:buChar char="Ø"/>
            </a:pPr>
            <a:r>
              <a:rPr lang="en-US" sz="1400" dirty="0"/>
              <a:t>Enhancing security by identifying vulnerabilities </a:t>
            </a:r>
          </a:p>
          <a:p>
            <a:pPr marL="285750" indent="-285750" defTabSz="914400">
              <a:lnSpc>
                <a:spcPct val="150000"/>
              </a:lnSpc>
              <a:spcBef>
                <a:spcPts val="1000"/>
              </a:spcBef>
              <a:buFont typeface="Wingdings" panose="05000000000000000000" pitchFamily="2" charset="2"/>
              <a:buChar char="Ø"/>
            </a:pPr>
            <a:r>
              <a:rPr lang="en-US" sz="1400" dirty="0"/>
              <a:t>Auto-generating comments and annotations </a:t>
            </a:r>
          </a:p>
          <a:p>
            <a:pPr marL="285750" indent="-285750" defTabSz="914400">
              <a:lnSpc>
                <a:spcPct val="150000"/>
              </a:lnSpc>
              <a:spcBef>
                <a:spcPts val="1000"/>
              </a:spcBef>
              <a:buFont typeface="Wingdings" panose="05000000000000000000" pitchFamily="2" charset="2"/>
              <a:buChar char="Ø"/>
            </a:pPr>
            <a:r>
              <a:rPr lang="en-US" sz="1400" dirty="0"/>
              <a:t>Writing configuration files (e.g., YAML, JSON, </a:t>
            </a:r>
            <a:r>
              <a:rPr lang="en-US" sz="1400" dirty="0" err="1"/>
              <a:t>Dockerfiles</a:t>
            </a:r>
            <a:r>
              <a:rPr lang="en-US" sz="1400" dirty="0"/>
              <a:t>) </a:t>
            </a:r>
          </a:p>
          <a:p>
            <a:pPr marL="285750" indent="-285750" defTabSz="914400">
              <a:lnSpc>
                <a:spcPct val="150000"/>
              </a:lnSpc>
              <a:spcBef>
                <a:spcPts val="1000"/>
              </a:spcBef>
              <a:buFont typeface="Wingdings" panose="05000000000000000000" pitchFamily="2" charset="2"/>
              <a:buChar char="Ø"/>
            </a:pPr>
            <a:r>
              <a:rPr lang="en-US" sz="1400" dirty="0"/>
              <a:t>Automating repetitive tasks (e.g., regex creation, </a:t>
            </a:r>
            <a:r>
              <a:rPr lang="en-US" sz="1400" dirty="0" err="1"/>
              <a:t>cron</a:t>
            </a:r>
            <a:r>
              <a:rPr lang="en-US" sz="1400" dirty="0"/>
              <a:t> jobs) </a:t>
            </a:r>
          </a:p>
          <a:p>
            <a:pPr marL="285750" indent="-285750" defTabSz="914400">
              <a:lnSpc>
                <a:spcPct val="150000"/>
              </a:lnSpc>
              <a:spcBef>
                <a:spcPts val="1000"/>
              </a:spcBef>
              <a:buFont typeface="Wingdings" panose="05000000000000000000" pitchFamily="2" charset="2"/>
              <a:buChar char="Ø"/>
            </a:pPr>
            <a:r>
              <a:rPr lang="en-US" sz="1400" dirty="0"/>
              <a:t>Real-time feedback on coding best practices </a:t>
            </a:r>
          </a:p>
          <a:p>
            <a:pPr marL="285750" indent="-285750" defTabSz="914400">
              <a:lnSpc>
                <a:spcPct val="150000"/>
              </a:lnSpc>
              <a:spcBef>
                <a:spcPts val="1000"/>
              </a:spcBef>
              <a:buFont typeface="Wingdings" panose="05000000000000000000" pitchFamily="2" charset="2"/>
              <a:buChar char="Ø"/>
            </a:pPr>
            <a:r>
              <a:rPr lang="en-US" sz="1400" dirty="0"/>
              <a:t>Knowledge base querying for organization-specific documentation</a:t>
            </a:r>
            <a:endParaRPr lang="en-US" sz="1400" dirty="0">
              <a:ea typeface="+mn-ea"/>
            </a:endParaRPr>
          </a:p>
        </p:txBody>
      </p:sp>
    </p:spTree>
    <p:extLst>
      <p:ext uri="{BB962C8B-B14F-4D97-AF65-F5344CB8AC3E}">
        <p14:creationId xmlns:p14="http://schemas.microsoft.com/office/powerpoint/2010/main" val="302612494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E1D837-FB87-95AC-2A6F-852704F67BF1}"/>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80183897-124D-0980-3512-7313EF3E893E}"/>
              </a:ext>
            </a:extLst>
          </p:cNvPr>
          <p:cNvSpPr>
            <a:spLocks noGrp="1"/>
          </p:cNvSpPr>
          <p:nvPr>
            <p:ph type="title"/>
          </p:nvPr>
        </p:nvSpPr>
        <p:spPr>
          <a:xfrm>
            <a:off x="252249" y="365125"/>
            <a:ext cx="8931510" cy="689297"/>
          </a:xfrm>
        </p:spPr>
        <p:txBody>
          <a:bodyPr anchor="ctr">
            <a:noAutofit/>
          </a:bodyPr>
          <a:lstStyle/>
          <a:p>
            <a:pPr algn="l">
              <a:lnSpc>
                <a:spcPct val="100000"/>
              </a:lnSpc>
            </a:pPr>
            <a:r>
              <a:rPr lang="en-US" sz="2800" b="1" dirty="0">
                <a:latin typeface="Segoe UI" panose="020B0502040204020203" pitchFamily="34" charset="0"/>
                <a:cs typeface="Segoe UI" panose="020B0502040204020203" pitchFamily="34" charset="0"/>
              </a:rPr>
              <a:t>GitHub Copilot Features</a:t>
            </a:r>
            <a:endParaRPr lang="en-US" sz="2800" dirty="0">
              <a:latin typeface="Segoe UI" panose="020B0502040204020203" pitchFamily="34" charset="0"/>
              <a:cs typeface="Segoe UI" panose="020B0502040204020203" pitchFamily="34" charset="0"/>
            </a:endParaRPr>
          </a:p>
        </p:txBody>
      </p:sp>
      <p:sp>
        <p:nvSpPr>
          <p:cNvPr id="2" name="Title 4">
            <a:extLst>
              <a:ext uri="{FF2B5EF4-FFF2-40B4-BE49-F238E27FC236}">
                <a16:creationId xmlns:a16="http://schemas.microsoft.com/office/drawing/2014/main" id="{F4776DB0-DB33-0719-E3BF-879409E74FB3}"/>
              </a:ext>
            </a:extLst>
          </p:cNvPr>
          <p:cNvSpPr txBox="1">
            <a:spLocks/>
          </p:cNvSpPr>
          <p:nvPr/>
        </p:nvSpPr>
        <p:spPr>
          <a:xfrm>
            <a:off x="252249" y="1264487"/>
            <a:ext cx="11613930" cy="4963319"/>
          </a:xfrm>
          <a:prstGeom prst="rect">
            <a:avLst/>
          </a:prstGeom>
        </p:spPr>
        <p:txBody>
          <a:bodyPr anchor="t"/>
          <a:lstStyle>
            <a:lvl1pPr algn="l" defTabSz="1015990" rtl="0" eaLnBrk="1" latinLnBrk="0" hangingPunct="1">
              <a:lnSpc>
                <a:spcPct val="90000"/>
              </a:lnSpc>
              <a:spcBef>
                <a:spcPct val="0"/>
              </a:spcBef>
              <a:buNone/>
              <a:defRPr sz="3111" kern="1200">
                <a:solidFill>
                  <a:schemeClr val="tx1"/>
                </a:solidFill>
                <a:latin typeface="Segoe UI" panose="020B0502040204020203" pitchFamily="34" charset="0"/>
                <a:ea typeface="Open Sans Light" panose="020B0306030504020204" pitchFamily="34" charset="0"/>
                <a:cs typeface="Segoe UI" panose="020B0502040204020203" pitchFamily="34" charset="0"/>
              </a:defRPr>
            </a:lvl1pPr>
          </a:lstStyle>
          <a:p>
            <a:pPr marL="285750" indent="-285750" algn="just">
              <a:lnSpc>
                <a:spcPct val="150000"/>
              </a:lnSpc>
              <a:buFont typeface="Wingdings" panose="05000000000000000000" pitchFamily="2" charset="2"/>
              <a:buChar char="Ø"/>
            </a:pPr>
            <a:r>
              <a:rPr lang="en-US" sz="1600" b="1" dirty="0"/>
              <a:t>Code Completion: </a:t>
            </a:r>
            <a:r>
              <a:rPr lang="en-US" sz="1600" dirty="0"/>
              <a:t>GitHub Copilot provides context-aware, autocomplete-style code suggestions in popular IDEs such as Visual Studio Code, Visual Studio, JetBrains IDEs, Azure Data Studio, and Vim/</a:t>
            </a:r>
            <a:r>
              <a:rPr lang="en-US" sz="1600" dirty="0" err="1"/>
              <a:t>Neovim</a:t>
            </a:r>
            <a:r>
              <a:rPr lang="en-US" sz="1600" dirty="0"/>
              <a:t>.</a:t>
            </a:r>
          </a:p>
          <a:p>
            <a:pPr marL="285750" indent="-285750" algn="just">
              <a:lnSpc>
                <a:spcPct val="150000"/>
              </a:lnSpc>
              <a:buFont typeface="Wingdings" panose="05000000000000000000" pitchFamily="2" charset="2"/>
              <a:buChar char="Ø"/>
            </a:pPr>
            <a:r>
              <a:rPr lang="en-US" sz="1600" b="1" dirty="0"/>
              <a:t>Copilot Chat: </a:t>
            </a:r>
            <a:r>
              <a:rPr lang="en-US" sz="1600" dirty="0"/>
              <a:t>This feature allows you to interact with Copilot via a chat interface. It is available in supported IDEs (Visual Studio Code, Visual Studio, and JetBrains IDEs), on GitHub.com, and in GitHub Mobile. It supports natural language queries for code explanations, debugging help, translating between programming languages, and more. Copilot Chat is powered by GPT-4 and can assist with context-specific coding scenarios​.</a:t>
            </a:r>
          </a:p>
          <a:p>
            <a:pPr marL="285750" indent="-285750" algn="just">
              <a:lnSpc>
                <a:spcPct val="150000"/>
              </a:lnSpc>
              <a:buFont typeface="Wingdings" panose="05000000000000000000" pitchFamily="2" charset="2"/>
              <a:buChar char="Ø"/>
            </a:pPr>
            <a:r>
              <a:rPr lang="en-US" sz="1600" b="1" dirty="0"/>
              <a:t>Copilot for the Command Line (CLI): </a:t>
            </a:r>
            <a:r>
              <a:rPr lang="en-US" sz="1600" dirty="0"/>
              <a:t>This feature extends Copilot's assistance to the terminal. You can use commands like </a:t>
            </a:r>
            <a:r>
              <a:rPr lang="en-US" sz="1600" dirty="0" err="1"/>
              <a:t>gh</a:t>
            </a:r>
            <a:r>
              <a:rPr lang="en-US" sz="1600" dirty="0"/>
              <a:t> copilot suggest to get command recommendations or </a:t>
            </a:r>
            <a:r>
              <a:rPr lang="en-US" sz="1600" dirty="0" err="1"/>
              <a:t>gh</a:t>
            </a:r>
            <a:r>
              <a:rPr lang="en-US" sz="1600" dirty="0"/>
              <a:t> copilot explain to get explanations of commands. This feature also supports creating command aliases and executing suggested commands directly from the terminal.</a:t>
            </a:r>
            <a:endParaRPr lang="en-US" sz="1600" b="1" dirty="0"/>
          </a:p>
          <a:p>
            <a:pPr marL="285750" indent="-285750" algn="just">
              <a:lnSpc>
                <a:spcPct val="150000"/>
              </a:lnSpc>
              <a:buFont typeface="Wingdings" panose="05000000000000000000" pitchFamily="2" charset="2"/>
              <a:buChar char="Ø"/>
            </a:pPr>
            <a:r>
              <a:rPr lang="en-US" sz="1600" b="1" dirty="0"/>
              <a:t>GitHub Copilot Extensions (Beta): </a:t>
            </a:r>
            <a:r>
              <a:rPr lang="en-US" sz="1600" dirty="0"/>
              <a:t>provide developers with enhanced AI-assisted capabilities tailored to specific workflows or environments. These extensions integrate directly into popular development platforms and tools, offering greater flexibility and customization for coding tasks</a:t>
            </a:r>
          </a:p>
        </p:txBody>
      </p:sp>
    </p:spTree>
    <p:extLst>
      <p:ext uri="{BB962C8B-B14F-4D97-AF65-F5344CB8AC3E}">
        <p14:creationId xmlns:p14="http://schemas.microsoft.com/office/powerpoint/2010/main" val="112647152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163A6E-4703-C90D-8701-6C21DCD0CB80}"/>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12C83797-8F23-7551-D249-DBA1E62DC9B6}"/>
              </a:ext>
            </a:extLst>
          </p:cNvPr>
          <p:cNvSpPr>
            <a:spLocks noGrp="1"/>
          </p:cNvSpPr>
          <p:nvPr>
            <p:ph type="title"/>
          </p:nvPr>
        </p:nvSpPr>
        <p:spPr>
          <a:xfrm>
            <a:off x="252249" y="365125"/>
            <a:ext cx="8931510" cy="689297"/>
          </a:xfrm>
        </p:spPr>
        <p:txBody>
          <a:bodyPr anchor="ctr">
            <a:noAutofit/>
          </a:bodyPr>
          <a:lstStyle/>
          <a:p>
            <a:pPr algn="l">
              <a:lnSpc>
                <a:spcPct val="100000"/>
              </a:lnSpc>
            </a:pPr>
            <a:r>
              <a:rPr lang="en-US" sz="2800" b="1" dirty="0">
                <a:latin typeface="Segoe UI" panose="020B0502040204020203" pitchFamily="34" charset="0"/>
                <a:cs typeface="Segoe UI" panose="020B0502040204020203" pitchFamily="34" charset="0"/>
              </a:rPr>
              <a:t>GitHub Copilot Features (Cont.)</a:t>
            </a:r>
            <a:endParaRPr lang="en-US" sz="2800" dirty="0">
              <a:latin typeface="Segoe UI" panose="020B0502040204020203" pitchFamily="34" charset="0"/>
              <a:cs typeface="Segoe UI" panose="020B0502040204020203" pitchFamily="34" charset="0"/>
            </a:endParaRPr>
          </a:p>
        </p:txBody>
      </p:sp>
      <p:sp>
        <p:nvSpPr>
          <p:cNvPr id="2" name="Title 4">
            <a:extLst>
              <a:ext uri="{FF2B5EF4-FFF2-40B4-BE49-F238E27FC236}">
                <a16:creationId xmlns:a16="http://schemas.microsoft.com/office/drawing/2014/main" id="{2FEC97C7-098F-6163-9878-84869B9B39FA}"/>
              </a:ext>
            </a:extLst>
          </p:cNvPr>
          <p:cNvSpPr txBox="1">
            <a:spLocks/>
          </p:cNvSpPr>
          <p:nvPr/>
        </p:nvSpPr>
        <p:spPr>
          <a:xfrm>
            <a:off x="252249" y="1054422"/>
            <a:ext cx="11613930" cy="5222810"/>
          </a:xfrm>
          <a:prstGeom prst="rect">
            <a:avLst/>
          </a:prstGeom>
        </p:spPr>
        <p:txBody>
          <a:bodyPr anchor="t"/>
          <a:lstStyle>
            <a:lvl1pPr algn="l" defTabSz="1015990" rtl="0" eaLnBrk="1" latinLnBrk="0" hangingPunct="1">
              <a:lnSpc>
                <a:spcPct val="90000"/>
              </a:lnSpc>
              <a:spcBef>
                <a:spcPct val="0"/>
              </a:spcBef>
              <a:buNone/>
              <a:defRPr sz="3111" kern="1200">
                <a:solidFill>
                  <a:schemeClr val="tx1"/>
                </a:solidFill>
                <a:latin typeface="Segoe UI" panose="020B0502040204020203" pitchFamily="34" charset="0"/>
                <a:ea typeface="Open Sans Light" panose="020B0306030504020204" pitchFamily="34" charset="0"/>
                <a:cs typeface="Segoe UI" panose="020B0502040204020203" pitchFamily="34" charset="0"/>
              </a:defRPr>
            </a:lvl1pPr>
          </a:lstStyle>
          <a:p>
            <a:pPr marL="285750" indent="-285750" algn="just">
              <a:lnSpc>
                <a:spcPct val="150000"/>
              </a:lnSpc>
              <a:buFont typeface="Wingdings" panose="05000000000000000000" pitchFamily="2" charset="2"/>
              <a:buChar char="Ø"/>
            </a:pPr>
            <a:r>
              <a:rPr lang="en-US" sz="1600" b="1" dirty="0"/>
              <a:t>GitHub Copilot for Azure (Beta): </a:t>
            </a:r>
            <a:r>
              <a:rPr lang="en-US" sz="1600" dirty="0"/>
              <a:t>is a specialized extension that integrates GitHub Copilot's AI-powered coding assistance with Azure services. It acts as a cloud coding companion that helps developers interact with Azure resources directly from their IDE, enhancing productivity and reducing the complexity of cloud development.</a:t>
            </a:r>
          </a:p>
          <a:p>
            <a:pPr marL="285750" indent="-285750" algn="just">
              <a:lnSpc>
                <a:spcPct val="150000"/>
              </a:lnSpc>
              <a:buFont typeface="Wingdings" panose="05000000000000000000" pitchFamily="2" charset="2"/>
              <a:buChar char="Ø"/>
            </a:pPr>
            <a:r>
              <a:rPr lang="en-US" sz="1600" b="1" dirty="0"/>
              <a:t>Copilot in GitHub.com: </a:t>
            </a:r>
            <a:r>
              <a:rPr lang="en-US" sz="1600" dirty="0"/>
              <a:t>Integrates directly into the platform for users subscribed to Copilot Individual or Business plans. This allows developers to harness AI directly in their browser without needing to switch to an IDE.</a:t>
            </a:r>
          </a:p>
          <a:p>
            <a:pPr marL="285750" indent="-285750" algn="just">
              <a:lnSpc>
                <a:spcPct val="150000"/>
              </a:lnSpc>
              <a:buFont typeface="Wingdings" panose="05000000000000000000" pitchFamily="2" charset="2"/>
              <a:buChar char="Ø"/>
            </a:pPr>
            <a:r>
              <a:rPr lang="en-US" sz="1600" b="1" dirty="0"/>
              <a:t>Pull Requests Summaries: </a:t>
            </a:r>
            <a:r>
              <a:rPr lang="en-US" sz="1600" dirty="0"/>
              <a:t>(Enterprise Only): Copilot can automatically generate summaries of pull requests, highlighting changes, their impact on files, and areas of interest for reviewers. This feature saves time during code reviews​.</a:t>
            </a:r>
          </a:p>
          <a:p>
            <a:pPr marL="285750" indent="-285750" algn="just">
              <a:lnSpc>
                <a:spcPct val="150000"/>
              </a:lnSpc>
              <a:buFont typeface="Wingdings" panose="05000000000000000000" pitchFamily="2" charset="2"/>
              <a:buChar char="Ø"/>
            </a:pPr>
            <a:r>
              <a:rPr lang="en-US" sz="1600" b="1" dirty="0"/>
              <a:t>GitHub Copilot workspace:</a:t>
            </a:r>
            <a:r>
              <a:rPr lang="en-US" sz="1600" dirty="0"/>
              <a:t> development environment that helps developers plan, write, and test code using natural language. It supports multi-file changes, integrates with GitHub Code spaces, and allows real-time editing and debugging for seamless collaboration.</a:t>
            </a:r>
          </a:p>
          <a:p>
            <a:pPr marL="285750" indent="-285750" algn="just">
              <a:lnSpc>
                <a:spcPct val="150000"/>
              </a:lnSpc>
              <a:buFont typeface="Wingdings" panose="05000000000000000000" pitchFamily="2" charset="2"/>
              <a:buChar char="Ø"/>
            </a:pPr>
            <a:r>
              <a:rPr lang="en-US" sz="1600" b="1" dirty="0"/>
              <a:t>Text Completion (Enterprise Only):</a:t>
            </a:r>
            <a:r>
              <a:rPr lang="en-US" sz="1600" dirty="0"/>
              <a:t> Copilot also assists with natural language tasks, such as generating text descriptions for pull requests and other documentation​. </a:t>
            </a:r>
          </a:p>
          <a:p>
            <a:pPr marL="285750" indent="-285750" algn="just">
              <a:lnSpc>
                <a:spcPct val="150000"/>
              </a:lnSpc>
              <a:buFont typeface="Wingdings" panose="05000000000000000000" pitchFamily="2" charset="2"/>
              <a:buChar char="Ø"/>
            </a:pPr>
            <a:r>
              <a:rPr lang="en-US" sz="1600" b="1" dirty="0"/>
              <a:t>Knowledge Bases (Enterprise Only): </a:t>
            </a:r>
            <a:r>
              <a:rPr lang="en-US" sz="1600" dirty="0"/>
              <a:t>This feature allows users to create collections of documentation that can be used as a reference for Copilot Chat, enabling more informed answers​.</a:t>
            </a:r>
          </a:p>
        </p:txBody>
      </p:sp>
    </p:spTree>
    <p:extLst>
      <p:ext uri="{BB962C8B-B14F-4D97-AF65-F5344CB8AC3E}">
        <p14:creationId xmlns:p14="http://schemas.microsoft.com/office/powerpoint/2010/main" val="110817813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47CBA8-98E3-AE5F-4A6D-58ED93F528BE}"/>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E8FD1E4-9D8E-87BA-CF78-3C0938DF4C0C}"/>
              </a:ext>
            </a:extLst>
          </p:cNvPr>
          <p:cNvSpPr>
            <a:spLocks noGrp="1"/>
          </p:cNvSpPr>
          <p:nvPr>
            <p:ph type="title"/>
          </p:nvPr>
        </p:nvSpPr>
        <p:spPr>
          <a:xfrm>
            <a:off x="252249" y="365125"/>
            <a:ext cx="8931510" cy="689297"/>
          </a:xfrm>
        </p:spPr>
        <p:txBody>
          <a:bodyPr anchor="ctr">
            <a:noAutofit/>
          </a:bodyPr>
          <a:lstStyle/>
          <a:p>
            <a:pPr algn="l">
              <a:lnSpc>
                <a:spcPct val="100000"/>
              </a:lnSpc>
            </a:pPr>
            <a:r>
              <a:rPr lang="en-US" sz="2800" b="1" dirty="0">
                <a:latin typeface="Segoe UI" panose="020B0502040204020203" pitchFamily="34" charset="0"/>
                <a:cs typeface="Segoe UI" panose="020B0502040204020203" pitchFamily="34" charset="0"/>
              </a:rPr>
              <a:t>GitHub Copilot Features (Cont.)</a:t>
            </a:r>
            <a:endParaRPr lang="en-US" sz="2800" dirty="0">
              <a:latin typeface="Segoe UI" panose="020B0502040204020203" pitchFamily="34" charset="0"/>
              <a:cs typeface="Segoe UI" panose="020B0502040204020203" pitchFamily="34" charset="0"/>
            </a:endParaRPr>
          </a:p>
        </p:txBody>
      </p:sp>
      <p:sp>
        <p:nvSpPr>
          <p:cNvPr id="2" name="Title 4">
            <a:extLst>
              <a:ext uri="{FF2B5EF4-FFF2-40B4-BE49-F238E27FC236}">
                <a16:creationId xmlns:a16="http://schemas.microsoft.com/office/drawing/2014/main" id="{CE40262E-3246-F651-77CB-A47AA7CF356A}"/>
              </a:ext>
            </a:extLst>
          </p:cNvPr>
          <p:cNvSpPr txBox="1">
            <a:spLocks/>
          </p:cNvSpPr>
          <p:nvPr/>
        </p:nvSpPr>
        <p:spPr>
          <a:xfrm>
            <a:off x="252249" y="1338628"/>
            <a:ext cx="11613930" cy="4963319"/>
          </a:xfrm>
          <a:prstGeom prst="rect">
            <a:avLst/>
          </a:prstGeom>
        </p:spPr>
        <p:txBody>
          <a:bodyPr anchor="t"/>
          <a:lstStyle>
            <a:lvl1pPr algn="l" defTabSz="1015990" rtl="0" eaLnBrk="1" latinLnBrk="0" hangingPunct="1">
              <a:lnSpc>
                <a:spcPct val="90000"/>
              </a:lnSpc>
              <a:spcBef>
                <a:spcPct val="0"/>
              </a:spcBef>
              <a:buNone/>
              <a:defRPr sz="3111" kern="1200">
                <a:solidFill>
                  <a:schemeClr val="tx1"/>
                </a:solidFill>
                <a:latin typeface="Segoe UI" panose="020B0502040204020203" pitchFamily="34" charset="0"/>
                <a:ea typeface="Open Sans Light" panose="020B0306030504020204" pitchFamily="34" charset="0"/>
                <a:cs typeface="Segoe UI" panose="020B0502040204020203" pitchFamily="34" charset="0"/>
              </a:defRPr>
            </a:lvl1pPr>
          </a:lstStyle>
          <a:p>
            <a:pPr marL="285750" indent="-285750" algn="just">
              <a:lnSpc>
                <a:spcPct val="150000"/>
              </a:lnSpc>
              <a:buFont typeface="Wingdings" panose="05000000000000000000" pitchFamily="2" charset="2"/>
              <a:buChar char="Ø"/>
            </a:pPr>
            <a:r>
              <a:rPr lang="en-US" sz="1600" b="1" dirty="0"/>
              <a:t>Slash Commands</a:t>
            </a:r>
            <a:endParaRPr lang="en-US" sz="1600" dirty="0"/>
          </a:p>
          <a:p>
            <a:pPr marL="800100" lvl="1" indent="-342900" algn="just">
              <a:buFont typeface="Wingdings" panose="05000000000000000000" pitchFamily="2" charset="2"/>
              <a:buChar char="§"/>
            </a:pPr>
            <a:r>
              <a:rPr lang="en-US" sz="1600" dirty="0"/>
              <a:t>Take advantage of Copilot's slash commands such as /fix, /explain, /doc, and /tests for common development tasks.</a:t>
            </a:r>
          </a:p>
          <a:p>
            <a:pPr marL="800100" lvl="1" indent="-342900" algn="just">
              <a:buFont typeface="Wingdings" panose="05000000000000000000" pitchFamily="2" charset="2"/>
              <a:buChar char="§"/>
            </a:pPr>
            <a:r>
              <a:rPr lang="en-US" sz="1600" dirty="0"/>
              <a:t>These commands allow you to quickly fix code, generate explanations, create documentation, and write unit tests.</a:t>
            </a:r>
          </a:p>
          <a:p>
            <a:pPr marL="800100" lvl="1" indent="-342900" algn="just">
              <a:buFont typeface="Wingdings" panose="05000000000000000000" pitchFamily="2" charset="2"/>
              <a:buChar char="§"/>
            </a:pPr>
            <a:r>
              <a:rPr lang="en-US" sz="1600" dirty="0"/>
              <a:t>Examples: </a:t>
            </a:r>
          </a:p>
          <a:p>
            <a:pPr marL="1257300" lvl="2" indent="-342900" algn="just">
              <a:buFont typeface="Wingdings" panose="05000000000000000000" pitchFamily="2" charset="2"/>
              <a:buChar char="q"/>
            </a:pPr>
            <a:r>
              <a:rPr lang="en-US" sz="1600" dirty="0"/>
              <a:t>/fix: Proposes a fix for selected code. </a:t>
            </a:r>
          </a:p>
          <a:p>
            <a:pPr marL="1257300" lvl="2" indent="-342900" algn="just">
              <a:buFont typeface="Wingdings" panose="05000000000000000000" pitchFamily="2" charset="2"/>
              <a:buChar char="q"/>
            </a:pPr>
            <a:r>
              <a:rPr lang="en-US" sz="1600" dirty="0"/>
              <a:t>/explain: Provides a detailed explanation of the selected code. </a:t>
            </a:r>
          </a:p>
          <a:p>
            <a:pPr marL="1257300" lvl="2" indent="-342900" algn="just">
              <a:buFont typeface="Wingdings" panose="05000000000000000000" pitchFamily="2" charset="2"/>
              <a:buChar char="q"/>
            </a:pPr>
            <a:r>
              <a:rPr lang="en-US" sz="1600" dirty="0"/>
              <a:t>/doc: Generates documentation for the code. </a:t>
            </a:r>
          </a:p>
          <a:p>
            <a:pPr marL="1257300" lvl="2" indent="-342900" algn="just">
              <a:buFont typeface="Wingdings" panose="05000000000000000000" pitchFamily="2" charset="2"/>
              <a:buChar char="q"/>
            </a:pPr>
            <a:r>
              <a:rPr lang="en-US" sz="1600" dirty="0"/>
              <a:t>/tests: Creates unit tests for the selected code.</a:t>
            </a:r>
          </a:p>
          <a:p>
            <a:pPr marL="1257300" lvl="2" indent="-342900" algn="just">
              <a:buFont typeface="Wingdings" panose="05000000000000000000" pitchFamily="2" charset="2"/>
              <a:buChar char="q"/>
            </a:pPr>
            <a:endParaRPr lang="en-US" sz="1600" dirty="0"/>
          </a:p>
          <a:p>
            <a:pPr marL="1257300" lvl="2" indent="-342900" algn="just">
              <a:buFont typeface="Wingdings" panose="05000000000000000000" pitchFamily="2" charset="2"/>
              <a:buChar char="q"/>
            </a:pPr>
            <a:endParaRPr lang="en-US" sz="1600" dirty="0"/>
          </a:p>
          <a:p>
            <a:pPr lvl="2" algn="just"/>
            <a:endParaRPr lang="en-US" sz="1600" dirty="0"/>
          </a:p>
          <a:p>
            <a:pPr marL="285750" indent="-285750" algn="just">
              <a:lnSpc>
                <a:spcPct val="150000"/>
              </a:lnSpc>
              <a:buFont typeface="Wingdings" panose="05000000000000000000" pitchFamily="2" charset="2"/>
              <a:buChar char="Ø"/>
            </a:pPr>
            <a:r>
              <a:rPr lang="en-US" sz="1600" b="1" dirty="0"/>
              <a:t>Chat Participants (@ Operator)</a:t>
            </a:r>
          </a:p>
          <a:p>
            <a:pPr marL="800100" lvl="1" indent="-342900" algn="just">
              <a:buFont typeface="Wingdings" panose="05000000000000000000" pitchFamily="2" charset="2"/>
              <a:buChar char="§"/>
            </a:pPr>
            <a:r>
              <a:rPr lang="en-US" sz="1600" dirty="0"/>
              <a:t>Use @workspace to instruct Copilot to consider your entire project when responding. This ensures Copilot.</a:t>
            </a:r>
          </a:p>
          <a:p>
            <a:pPr marL="800100" lvl="1" indent="-342900" algn="just">
              <a:buFont typeface="Wingdings" panose="05000000000000000000" pitchFamily="2" charset="2"/>
              <a:buChar char="§"/>
            </a:pPr>
            <a:r>
              <a:rPr lang="en-US" sz="1600" dirty="0"/>
              <a:t>Leverages all open files and configurations in the workspace.</a:t>
            </a:r>
          </a:p>
          <a:p>
            <a:pPr marL="800100" lvl="1" indent="-342900" algn="just">
              <a:buFont typeface="Wingdings" panose="05000000000000000000" pitchFamily="2" charset="2"/>
              <a:buChar char="§"/>
            </a:pPr>
            <a:r>
              <a:rPr lang="en-US" sz="1600" dirty="0"/>
              <a:t>Other participants like @terminal help Copilot assist with terminal-related tasks, including shell commands. </a:t>
            </a:r>
          </a:p>
        </p:txBody>
      </p:sp>
    </p:spTree>
    <p:extLst>
      <p:ext uri="{BB962C8B-B14F-4D97-AF65-F5344CB8AC3E}">
        <p14:creationId xmlns:p14="http://schemas.microsoft.com/office/powerpoint/2010/main" val="91456089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56AF96-0CEB-DBC7-8CDF-3460B1231B31}"/>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DE2EA1A5-C2DA-5050-4B0C-BC693F356E52}"/>
              </a:ext>
            </a:extLst>
          </p:cNvPr>
          <p:cNvSpPr>
            <a:spLocks noGrp="1"/>
          </p:cNvSpPr>
          <p:nvPr>
            <p:ph type="title"/>
          </p:nvPr>
        </p:nvSpPr>
        <p:spPr>
          <a:xfrm>
            <a:off x="252249" y="365125"/>
            <a:ext cx="8931510" cy="689297"/>
          </a:xfrm>
        </p:spPr>
        <p:txBody>
          <a:bodyPr anchor="ctr">
            <a:noAutofit/>
          </a:bodyPr>
          <a:lstStyle/>
          <a:p>
            <a:pPr algn="l">
              <a:lnSpc>
                <a:spcPct val="100000"/>
              </a:lnSpc>
            </a:pPr>
            <a:r>
              <a:rPr lang="en-US" sz="2800" b="1" dirty="0">
                <a:latin typeface="Segoe UI" panose="020B0502040204020203" pitchFamily="34" charset="0"/>
                <a:cs typeface="Segoe UI" panose="020B0502040204020203" pitchFamily="34" charset="0"/>
              </a:rPr>
              <a:t>GitHub Copilot Features (Cont.)</a:t>
            </a:r>
            <a:endParaRPr lang="en-US" sz="2800" dirty="0">
              <a:latin typeface="Segoe UI" panose="020B0502040204020203" pitchFamily="34" charset="0"/>
              <a:cs typeface="Segoe UI" panose="020B0502040204020203" pitchFamily="34" charset="0"/>
            </a:endParaRPr>
          </a:p>
        </p:txBody>
      </p:sp>
      <p:sp>
        <p:nvSpPr>
          <p:cNvPr id="2" name="Title 4">
            <a:extLst>
              <a:ext uri="{FF2B5EF4-FFF2-40B4-BE49-F238E27FC236}">
                <a16:creationId xmlns:a16="http://schemas.microsoft.com/office/drawing/2014/main" id="{03B5BDF9-F8F6-9F36-A93F-35F28EAB0CDF}"/>
              </a:ext>
            </a:extLst>
          </p:cNvPr>
          <p:cNvSpPr txBox="1">
            <a:spLocks/>
          </p:cNvSpPr>
          <p:nvPr/>
        </p:nvSpPr>
        <p:spPr>
          <a:xfrm>
            <a:off x="252249" y="1338628"/>
            <a:ext cx="11613930" cy="4654399"/>
          </a:xfrm>
          <a:prstGeom prst="rect">
            <a:avLst/>
          </a:prstGeom>
        </p:spPr>
        <p:txBody>
          <a:bodyPr anchor="t"/>
          <a:lstStyle>
            <a:lvl1pPr algn="l" defTabSz="1015990" rtl="0" eaLnBrk="1" latinLnBrk="0" hangingPunct="1">
              <a:lnSpc>
                <a:spcPct val="90000"/>
              </a:lnSpc>
              <a:spcBef>
                <a:spcPct val="0"/>
              </a:spcBef>
              <a:buNone/>
              <a:defRPr sz="3111" kern="1200">
                <a:solidFill>
                  <a:schemeClr val="tx1"/>
                </a:solidFill>
                <a:latin typeface="Segoe UI" panose="020B0502040204020203" pitchFamily="34" charset="0"/>
                <a:ea typeface="Open Sans Light" panose="020B0306030504020204" pitchFamily="34" charset="0"/>
                <a:cs typeface="Segoe UI" panose="020B0502040204020203" pitchFamily="34" charset="0"/>
              </a:defRPr>
            </a:lvl1pPr>
          </a:lstStyle>
          <a:p>
            <a:pPr marL="285750" indent="-285750" algn="just">
              <a:lnSpc>
                <a:spcPct val="150000"/>
              </a:lnSpc>
              <a:buFont typeface="Wingdings" panose="05000000000000000000" pitchFamily="2" charset="2"/>
              <a:buChar char="Ø"/>
            </a:pPr>
            <a:r>
              <a:rPr lang="en-US" sz="1600" b="1" dirty="0"/>
              <a:t>File and Section References (# Operator)</a:t>
            </a:r>
          </a:p>
          <a:p>
            <a:pPr marL="800100" lvl="1" indent="-342900" algn="just">
              <a:buFont typeface="Wingdings" panose="05000000000000000000" pitchFamily="2" charset="2"/>
              <a:buChar char="§"/>
            </a:pPr>
            <a:r>
              <a:rPr lang="en-US" sz="1600" dirty="0"/>
              <a:t>Reference specific files, classes, or methods using the #file or #method syntax. This helps Copilot focus on particular sections of your code and improves accuracy.</a:t>
            </a:r>
          </a:p>
          <a:p>
            <a:pPr marL="800100" lvl="1" indent="-342900" algn="just">
              <a:buFont typeface="Wingdings" panose="05000000000000000000" pitchFamily="2" charset="2"/>
              <a:buChar char="§"/>
            </a:pPr>
            <a:r>
              <a:rPr lang="en-US" sz="1600" dirty="0"/>
              <a:t>Examples: </a:t>
            </a:r>
          </a:p>
          <a:p>
            <a:pPr marL="1257300" lvl="2" indent="-342900" algn="just">
              <a:buFont typeface="Wingdings" panose="05000000000000000000" pitchFamily="2" charset="2"/>
              <a:buChar char="q"/>
            </a:pPr>
            <a:r>
              <a:rPr lang="en-US" sz="1600" dirty="0"/>
              <a:t>#BasketService.cs: Points Copilot to a specific file.. </a:t>
            </a:r>
          </a:p>
          <a:p>
            <a:pPr marL="1257300" lvl="2" indent="-342900" algn="just">
              <a:buFont typeface="Wingdings" panose="05000000000000000000" pitchFamily="2" charset="2"/>
              <a:buChar char="q"/>
            </a:pPr>
            <a:r>
              <a:rPr lang="en-US" sz="1600" dirty="0"/>
              <a:t>#AddItemToBasket: Directs Copilot to a particular method.</a:t>
            </a:r>
          </a:p>
          <a:p>
            <a:pPr marL="1257300" lvl="2" indent="-342900" algn="just">
              <a:buFont typeface="Wingdings" panose="05000000000000000000" pitchFamily="2" charset="2"/>
              <a:buChar char="q"/>
            </a:pPr>
            <a:endParaRPr lang="en-US" sz="1600" dirty="0"/>
          </a:p>
          <a:p>
            <a:pPr lvl="2" algn="just"/>
            <a:endParaRPr lang="en-US" sz="1600" dirty="0"/>
          </a:p>
          <a:p>
            <a:pPr lvl="2" algn="just"/>
            <a:endParaRPr lang="en-US" sz="1600" dirty="0"/>
          </a:p>
          <a:p>
            <a:pPr lvl="2" algn="just"/>
            <a:endParaRPr lang="en-US" sz="1600" dirty="0"/>
          </a:p>
          <a:p>
            <a:pPr marL="285750" indent="-285750" algn="just">
              <a:lnSpc>
                <a:spcPct val="150000"/>
              </a:lnSpc>
              <a:buFont typeface="Wingdings" panose="05000000000000000000" pitchFamily="2" charset="2"/>
              <a:buChar char="Ø"/>
            </a:pPr>
            <a:r>
              <a:rPr lang="en-US" sz="1600" b="1" dirty="0"/>
              <a:t>Inline chat</a:t>
            </a:r>
          </a:p>
          <a:p>
            <a:pPr marL="800100" lvl="1" indent="-342900" algn="just">
              <a:buFont typeface="Wingdings" panose="05000000000000000000" pitchFamily="2" charset="2"/>
              <a:buChar char="§"/>
            </a:pPr>
            <a:r>
              <a:rPr lang="en-US" sz="1600" dirty="0"/>
              <a:t>Press CMD+I (or CTRL+I on Windows) to bring up inline chat directly within your code.</a:t>
            </a:r>
          </a:p>
          <a:p>
            <a:pPr marL="800100" lvl="1" indent="-342900" algn="just">
              <a:buFont typeface="Wingdings" panose="05000000000000000000" pitchFamily="2" charset="2"/>
              <a:buChar char="§"/>
            </a:pPr>
            <a:r>
              <a:rPr lang="en-US" sz="1600" dirty="0"/>
              <a:t>Ask questions, get explanations, or generate code snippets without leaving your current workflow. Inline chat provides context-aware suggestions based on the code you're working on.</a:t>
            </a:r>
          </a:p>
        </p:txBody>
      </p:sp>
    </p:spTree>
    <p:extLst>
      <p:ext uri="{BB962C8B-B14F-4D97-AF65-F5344CB8AC3E}">
        <p14:creationId xmlns:p14="http://schemas.microsoft.com/office/powerpoint/2010/main" val="30579081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p:cNvPicPr>
            <a:picLocks noChangeAspect="1"/>
          </p:cNvPicPr>
          <p:nvPr/>
        </p:nvPicPr>
        <p:blipFill>
          <a:blip r:embed="rId3"/>
          <a:stretch>
            <a:fillRect/>
          </a:stretch>
        </p:blipFill>
        <p:spPr>
          <a:xfrm>
            <a:off x="-215827" y="-121395"/>
            <a:ext cx="12623655" cy="7100791"/>
          </a:xfrm>
          <a:prstGeom prst="rect">
            <a:avLst/>
          </a:prstGeom>
        </p:spPr>
      </p:pic>
      <p:sp>
        <p:nvSpPr>
          <p:cNvPr id="2" name="Title 1"/>
          <p:cNvSpPr>
            <a:spLocks noGrp="1"/>
          </p:cNvSpPr>
          <p:nvPr>
            <p:ph type="ctrTitle"/>
          </p:nvPr>
        </p:nvSpPr>
        <p:spPr>
          <a:xfrm>
            <a:off x="1523999" y="1880663"/>
            <a:ext cx="9144000" cy="2387600"/>
          </a:xfrm>
        </p:spPr>
        <p:txBody>
          <a:bodyPr anchor="ctr">
            <a:normAutofit/>
          </a:bodyPr>
          <a:lstStyle/>
          <a:p>
            <a:r>
              <a:rPr lang="en-US" sz="8000" dirty="0">
                <a:solidFill>
                  <a:schemeClr val="bg1"/>
                </a:solidFill>
                <a:latin typeface="Candara bold" panose="020E0702030303020204" pitchFamily="34" charset="0"/>
              </a:rPr>
              <a:t>Thank You</a:t>
            </a:r>
          </a:p>
        </p:txBody>
      </p:sp>
      <p:pic>
        <p:nvPicPr>
          <p:cNvPr id="12" name="Picture 11"/>
          <p:cNvPicPr>
            <a:picLocks noChangeAspect="1"/>
          </p:cNvPicPr>
          <p:nvPr/>
        </p:nvPicPr>
        <p:blipFill>
          <a:blip r:embed="rId4"/>
          <a:stretch>
            <a:fillRect/>
          </a:stretch>
        </p:blipFill>
        <p:spPr>
          <a:xfrm>
            <a:off x="-107577" y="5664506"/>
            <a:ext cx="12407155" cy="903709"/>
          </a:xfrm>
          <a:prstGeom prst="rect">
            <a:avLst/>
          </a:prstGeom>
        </p:spPr>
      </p:pic>
      <p:sp>
        <p:nvSpPr>
          <p:cNvPr id="3" name="TextBox 2">
            <a:extLst>
              <a:ext uri="{FF2B5EF4-FFF2-40B4-BE49-F238E27FC236}">
                <a16:creationId xmlns:a16="http://schemas.microsoft.com/office/drawing/2014/main" id="{262B9070-65C2-8372-9179-FAD1946B0F4C}"/>
              </a:ext>
            </a:extLst>
          </p:cNvPr>
          <p:cNvSpPr txBox="1"/>
          <p:nvPr/>
        </p:nvSpPr>
        <p:spPr>
          <a:xfrm>
            <a:off x="122601" y="5153933"/>
            <a:ext cx="5772029" cy="369332"/>
          </a:xfrm>
          <a:prstGeom prst="rect">
            <a:avLst/>
          </a:prstGeom>
          <a:noFill/>
        </p:spPr>
        <p:txBody>
          <a:bodyPr wrap="none" rtlCol="0">
            <a:spAutoFit/>
          </a:bodyPr>
          <a:lstStyle/>
          <a:p>
            <a:r>
              <a:rPr lang="en-US" dirty="0">
                <a:solidFill>
                  <a:schemeClr val="bg2"/>
                </a:solidFill>
                <a:hlinkClick r:id="rId5">
                  <a:extLst>
                    <a:ext uri="{A12FA001-AC4F-418D-AE19-62706E023703}">
                      <ahyp:hlinkClr xmlns:ahyp="http://schemas.microsoft.com/office/drawing/2018/hyperlinkcolor" val="tx"/>
                    </a:ext>
                  </a:extLst>
                </a:hlinkClick>
              </a:rPr>
              <a:t>https://www.linkedin.com/in/omar-abdallah-abdelrahman/</a:t>
            </a:r>
            <a:endParaRPr lang="en-US" dirty="0">
              <a:solidFill>
                <a:schemeClr val="bg2"/>
              </a:solidFill>
            </a:endParaRPr>
          </a:p>
        </p:txBody>
      </p:sp>
    </p:spTree>
    <p:extLst>
      <p:ext uri="{BB962C8B-B14F-4D97-AF65-F5344CB8AC3E}">
        <p14:creationId xmlns:p14="http://schemas.microsoft.com/office/powerpoint/2010/main" val="388686247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I PPT template" id="{1082A310-9640-4036-B8BE-BA00E622FFB6}" vid="{4614FAA8-6D1B-42B9-9739-9C4E8F10913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E4A2F666D9004F4DBB544B2BA9CA959F" ma:contentTypeVersion="11" ma:contentTypeDescription="Create a new document." ma:contentTypeScope="" ma:versionID="4a1d5f287f452c395029e33b7f83bc22">
  <xsd:schema xmlns:xsd="http://www.w3.org/2001/XMLSchema" xmlns:xs="http://www.w3.org/2001/XMLSchema" xmlns:p="http://schemas.microsoft.com/office/2006/metadata/properties" xmlns:ns2="e037c586-02bc-4813-b052-97076388d298" xmlns:ns3="401de2da-ea13-4943-8e61-48e6374afd49" targetNamespace="http://schemas.microsoft.com/office/2006/metadata/properties" ma:root="true" ma:fieldsID="36d05604081b2bc253591cab16c11199" ns2:_="" ns3:_="">
    <xsd:import namespace="e037c586-02bc-4813-b052-97076388d298"/>
    <xsd:import namespace="401de2da-ea13-4943-8e61-48e6374afd49"/>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037c586-02bc-4813-b052-97076388d29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lcf76f155ced4ddcb4097134ff3c332f" ma:index="16" nillable="true" ma:taxonomy="true" ma:internalName="lcf76f155ced4ddcb4097134ff3c332f" ma:taxonomyFieldName="MediaServiceImageTags" ma:displayName="Image Tags" ma:readOnly="false" ma:fieldId="{5cf76f15-5ced-4ddc-b409-7134ff3c332f}" ma:taxonomyMulti="true" ma:sspId="40513edf-9d01-408c-8f50-b47e619fdba3"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401de2da-ea13-4943-8e61-48e6374afd49" elementFormDefault="qualified">
    <xsd:import namespace="http://schemas.microsoft.com/office/2006/documentManagement/types"/>
    <xsd:import namespace="http://schemas.microsoft.com/office/infopath/2007/PartnerControls"/>
    <xsd:element name="TaxCatchAll" ma:index="17" nillable="true" ma:displayName="Taxonomy Catch All Column" ma:hidden="true" ma:list="{962248e0-5392-4891-9658-75548070487d}" ma:internalName="TaxCatchAll" ma:showField="CatchAllData" ma:web="401de2da-ea13-4943-8e61-48e6374afd4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401de2da-ea13-4943-8e61-48e6374afd49" xsi:nil="true"/>
    <lcf76f155ced4ddcb4097134ff3c332f xmlns="e037c586-02bc-4813-b052-97076388d298">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0F05EAC4-3EF6-496A-A111-5992159F6AA8}"/>
</file>

<file path=customXml/itemProps2.xml><?xml version="1.0" encoding="utf-8"?>
<ds:datastoreItem xmlns:ds="http://schemas.openxmlformats.org/officeDocument/2006/customXml" ds:itemID="{D43D94E6-066F-4C94-BAC8-4E8EBE4B3CF9}"/>
</file>

<file path=customXml/itemProps3.xml><?xml version="1.0" encoding="utf-8"?>
<ds:datastoreItem xmlns:ds="http://schemas.openxmlformats.org/officeDocument/2006/customXml" ds:itemID="{6C2F260F-C099-4F3D-BF7E-CB652DA1CE8C}"/>
</file>

<file path=docProps/app.xml><?xml version="1.0" encoding="utf-8"?>
<Properties xmlns="http://schemas.openxmlformats.org/officeDocument/2006/extended-properties" xmlns:vt="http://schemas.openxmlformats.org/officeDocument/2006/docPropsVTypes">
  <Template>ITI PPT template</Template>
  <TotalTime>24376</TotalTime>
  <Words>1831</Words>
  <Application>Microsoft Office PowerPoint</Application>
  <PresentationFormat>Widescreen</PresentationFormat>
  <Paragraphs>191</Paragraphs>
  <Slides>22</Slides>
  <Notes>17</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22</vt:i4>
      </vt:variant>
    </vt:vector>
  </HeadingPairs>
  <TitlesOfParts>
    <vt:vector size="31" baseType="lpstr">
      <vt:lpstr>Roboto Condensed</vt:lpstr>
      <vt:lpstr>Wingdings</vt:lpstr>
      <vt:lpstr>Century Gothic</vt:lpstr>
      <vt:lpstr>Calibri Light</vt:lpstr>
      <vt:lpstr>Arial</vt:lpstr>
      <vt:lpstr>Segoe UI</vt:lpstr>
      <vt:lpstr>Candara bold</vt:lpstr>
      <vt:lpstr>Calibri</vt:lpstr>
      <vt:lpstr>Office Theme</vt:lpstr>
      <vt:lpstr>Vibe coding (AI Coding Assistant Tools)</vt:lpstr>
      <vt:lpstr>AI-Powered Coding Assistant Tools</vt:lpstr>
      <vt:lpstr>AI-Powered Coding Assistant Tools</vt:lpstr>
      <vt:lpstr>Why do we need to know about Gen-AI?</vt:lpstr>
      <vt:lpstr>Why should we learn about Gen AI?</vt:lpstr>
      <vt:lpstr>Why should we learn about Gen AI?</vt:lpstr>
      <vt:lpstr>Gen-AI based startups and real products</vt:lpstr>
      <vt:lpstr>How to use the AI tools responsibility?</vt:lpstr>
      <vt:lpstr>“You write one line — AI writes five back.  You ask a question — it answers with context.  That’s the vibe.”</vt:lpstr>
      <vt:lpstr>AI Tools For Developers</vt:lpstr>
      <vt:lpstr>AI-Powered Coding Assistant Tools</vt:lpstr>
      <vt:lpstr>AI-Powered Coding Assistant Tools</vt:lpstr>
      <vt:lpstr>What’s GitHub Copilot</vt:lpstr>
      <vt:lpstr>What’s GitHub Copilot</vt:lpstr>
      <vt:lpstr>What’s GitHub Copilot</vt:lpstr>
      <vt:lpstr>What’s GitHub Copilot</vt:lpstr>
      <vt:lpstr>GitHub Copilot Use Cases</vt:lpstr>
      <vt:lpstr>GitHub Copilot Features</vt:lpstr>
      <vt:lpstr>GitHub Copilot Features (Cont.)</vt:lpstr>
      <vt:lpstr>GitHub Copilot Features (Cont.)</vt:lpstr>
      <vt:lpstr>GitHub Copilot Features (Cont.)</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ITI Presentation</dc:title>
  <dc:creator>Hany Saad</dc:creator>
  <cp:lastModifiedBy>Omar Mohamed Abdallah</cp:lastModifiedBy>
  <cp:revision>426</cp:revision>
  <dcterms:created xsi:type="dcterms:W3CDTF">2022-02-28T16:06:44Z</dcterms:created>
  <dcterms:modified xsi:type="dcterms:W3CDTF">2025-10-29T08:49:44Z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742b34ec-c11c-47b6-b54e-e857cc8ee12b_Enabled">
    <vt:lpwstr>true</vt:lpwstr>
  </property>
  <property fmtid="{D5CDD505-2E9C-101B-9397-08002B2CF9AE}" pid="3" name="MSIP_Label_742b34ec-c11c-47b6-b54e-e857cc8ee12b_SetDate">
    <vt:lpwstr>2024-05-02T11:29:24Z</vt:lpwstr>
  </property>
  <property fmtid="{D5CDD505-2E9C-101B-9397-08002B2CF9AE}" pid="4" name="MSIP_Label_742b34ec-c11c-47b6-b54e-e857cc8ee12b_Method">
    <vt:lpwstr>Privileged</vt:lpwstr>
  </property>
  <property fmtid="{D5CDD505-2E9C-101B-9397-08002B2CF9AE}" pid="5" name="MSIP_Label_742b34ec-c11c-47b6-b54e-e857cc8ee12b_Name">
    <vt:lpwstr>General-v3</vt:lpwstr>
  </property>
  <property fmtid="{D5CDD505-2E9C-101B-9397-08002B2CF9AE}" pid="6" name="MSIP_Label_742b34ec-c11c-47b6-b54e-e857cc8ee12b_SiteId">
    <vt:lpwstr>a1a5384f-f0fc-4df9-9f37-caf775af43c1</vt:lpwstr>
  </property>
  <property fmtid="{D5CDD505-2E9C-101B-9397-08002B2CF9AE}" pid="7" name="MSIP_Label_742b34ec-c11c-47b6-b54e-e857cc8ee12b_ActionId">
    <vt:lpwstr>e3023820-301f-4c7e-bfbc-88ae5ad4348a</vt:lpwstr>
  </property>
  <property fmtid="{D5CDD505-2E9C-101B-9397-08002B2CF9AE}" pid="8" name="MSIP_Label_742b34ec-c11c-47b6-b54e-e857cc8ee12b_ContentBits">
    <vt:lpwstr>2</vt:lpwstr>
  </property>
  <property fmtid="{D5CDD505-2E9C-101B-9397-08002B2CF9AE}" pid="9" name="ContentTypeId">
    <vt:lpwstr>0x010100E4A2F666D9004F4DBB544B2BA9CA959F</vt:lpwstr>
  </property>
</Properties>
</file>
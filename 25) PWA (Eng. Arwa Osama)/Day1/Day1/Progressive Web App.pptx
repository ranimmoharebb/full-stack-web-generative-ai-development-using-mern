
<file path=[Content_Types].xml><?xml version="1.0" encoding="utf-8"?>
<Types xmlns="http://schemas.openxmlformats.org/package/2006/content-types">
  <Default Extension="xml" ContentType="application/xml"/>
  <Default Extension="xlsx" ContentType="application/vnd.openxmlformats-officedocument.spreadsheetml.sheet"/>
  <Default Extension="jpeg" ContentType="image/jpeg"/>
  <Default Extension="JPG" ContentType="image/.jpg"/>
  <Default Extension="png" ContentType="image/png"/>
  <Default Extension="rels" ContentType="application/vnd.openxmlformats-package.relationship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olors1.xml" ContentType="application/vnd.ms-office.chartcolorstyle+xml"/>
  <Override PartName="/ppt/charts/colors2.xml" ContentType="application/vnd.ms-office.chartcolorstyle+xml"/>
  <Override PartName="/ppt/charts/colors3.xml" ContentType="application/vnd.ms-office.chartcolorstyle+xml"/>
  <Override PartName="/ppt/charts/style1.xml" ContentType="application/vnd.ms-office.chartstyle+xml"/>
  <Override PartName="/ppt/charts/style2.xml" ContentType="application/vnd.ms-office.chartstyle+xml"/>
  <Override PartName="/ppt/charts/style3.xml" ContentType="application/vnd.ms-office.chartstyl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Override1.xml" ContentType="application/vnd.openxmlformats-officedocument.themeOverrid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65" r:id="rId3"/>
    <p:sldId id="287" r:id="rId4"/>
    <p:sldId id="288" r:id="rId5"/>
    <p:sldId id="289" r:id="rId6"/>
    <p:sldId id="294" r:id="rId7"/>
    <p:sldId id="295" r:id="rId8"/>
    <p:sldId id="290" r:id="rId9"/>
    <p:sldId id="291" r:id="rId10"/>
    <p:sldId id="292" r:id="rId11"/>
    <p:sldId id="297" r:id="rId12"/>
    <p:sldId id="293" r:id="rId13"/>
    <p:sldId id="286" r:id="rId14"/>
    <p:sldId id="299" r:id="rId15"/>
    <p:sldId id="300" r:id="rId16"/>
    <p:sldId id="301" r:id="rId17"/>
    <p:sldId id="303" r:id="rId18"/>
    <p:sldId id="304" r:id="rId19"/>
    <p:sldId id="305" r:id="rId20"/>
    <p:sldId id="306" r:id="rId21"/>
    <p:sldId id="307" r:id="rId22"/>
    <p:sldId id="309" r:id="rId23"/>
    <p:sldId id="308" r:id="rId24"/>
    <p:sldId id="310" r:id="rId25"/>
    <p:sldId id="311" r:id="rId26"/>
    <p:sldId id="312" r:id="rId27"/>
    <p:sldId id="313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19" autoAdjust="0"/>
  </p:normalViewPr>
  <p:slideViewPr>
    <p:cSldViewPr snapToGrid="0">
      <p:cViewPr varScale="1">
        <p:scale>
          <a:sx n="86" d="100"/>
          <a:sy n="86" d="100"/>
        </p:scale>
        <p:origin x="56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4" Type="http://schemas.openxmlformats.org/officeDocument/2006/relationships/customXml" Target="../customXml/item3.xml"/><Relationship Id="rId33" Type="http://schemas.openxmlformats.org/officeDocument/2006/relationships/customXml" Target="../customXml/item2.xml"/><Relationship Id="rId32" Type="http://schemas.openxmlformats.org/officeDocument/2006/relationships/customXml" Target="../customXml/item1.xml"/><Relationship Id="rId31" Type="http://schemas.openxmlformats.org/officeDocument/2006/relationships/tableStyles" Target="tableStyles.xml"/><Relationship Id="rId30" Type="http://schemas.openxmlformats.org/officeDocument/2006/relationships/viewProps" Target="viewProps.xml"/><Relationship Id="rId3" Type="http://schemas.openxmlformats.org/officeDocument/2006/relationships/slide" Target="slides/slide1.xml"/><Relationship Id="rId29" Type="http://schemas.openxmlformats.org/officeDocument/2006/relationships/presProps" Target="presProps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3" Type="http://schemas.microsoft.com/office/2011/relationships/chartColorStyle" Target="colors1.xml"/><Relationship Id="rId2" Type="http://schemas.microsoft.com/office/2011/relationships/chartStyle" Target="style1.xml"/><Relationship Id="rId1" Type="http://schemas.openxmlformats.org/officeDocument/2006/relationships/package" Target="../embeddings/Workbook1.xlsx"/></Relationships>
</file>

<file path=ppt/charts/_rels/chart2.xml.rels><?xml version="1.0" encoding="UTF-8" standalone="yes"?>
<Relationships xmlns="http://schemas.openxmlformats.org/package/2006/relationships"><Relationship Id="rId3" Type="http://schemas.microsoft.com/office/2011/relationships/chartColorStyle" Target="colors2.xml"/><Relationship Id="rId2" Type="http://schemas.microsoft.com/office/2011/relationships/chartStyle" Target="style2.xml"/><Relationship Id="rId1" Type="http://schemas.openxmlformats.org/officeDocument/2006/relationships/package" Target="../embeddings/Workbook2.xlsx"/></Relationships>
</file>

<file path=ppt/charts/_rels/chart3.xml.rels><?xml version="1.0" encoding="UTF-8" standalone="yes"?>
<Relationships xmlns="http://schemas.openxmlformats.org/package/2006/relationships"><Relationship Id="rId3" Type="http://schemas.microsoft.com/office/2011/relationships/chartColorStyle" Target="colors3.xml"/><Relationship Id="rId2" Type="http://schemas.microsoft.com/office/2011/relationships/chartStyle" Target="style3.xml"/><Relationship Id="rId1" Type="http://schemas.openxmlformats.org/officeDocument/2006/relationships/package" Target="../embeddings/Workbook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chart>
    <c:title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en-US" sz="186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</a:p>
      </c:txPr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Mobile Web</c:v>
                </c:pt>
              </c:strCache>
            </c:strRef>
          </c:tx>
          <c:spPr/>
          <c:explosion val="0"/>
          <c:dPt>
            <c:idx val="0"/>
            <c:bubble3D val="0"/>
            <c:spPr>
              <a:solidFill>
                <a:schemeClr val="accent2">
                  <a:tint val="58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"/>
            <c:bubble3D val="0"/>
            <c:spPr>
              <a:solidFill>
                <a:schemeClr val="accent2">
                  <a:tint val="86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2"/>
            <c:bubble3D val="0"/>
            <c:spPr>
              <a:solidFill>
                <a:schemeClr val="accent2">
                  <a:shade val="86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3"/>
            <c:bubble3D val="0"/>
            <c:spPr>
              <a:solidFill>
                <a:schemeClr val="accent2">
                  <a:shade val="58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Lbls>
            <c:dLbl>
              <c:idx val="0"/>
              <c:layout>
                <c:manualLayout>
                  <c:x val="-0.105950290223372"/>
                  <c:y val="0.27168091803966"/>
                </c:manualLayout>
              </c:layout>
              <c:tx>
                <c:rich>
                  <a:bodyPr rot="0" spcFirstLastPara="1" vertOverflow="ellipsis" vert="horz" wrap="square" lIns="38100" tIns="19050" rIns="38100" bIns="19050" anchor="ctr" anchorCtr="1">
                    <a:noAutofit/>
                  </a:bodyPr>
                  <a:lstStyle/>
                  <a:p>
                    <a:pPr>
                      <a:defRPr lang="en-US" sz="1500" b="0" i="0" u="none" strike="noStrike" kern="1200" baseline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r>
                      <a:rPr lang="en-US" sz="2800" b="1" baseline="0" dirty="0"/>
                      <a:t>13%</a:t>
                    </a:r>
                    <a:endParaRPr lang="en-US" sz="2800" b="1" baseline="0" dirty="0"/>
                  </a:p>
                </c:rich>
              </c:tx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noAutofit/>
                </a:bodyPr>
                <a:lstStyle/>
                <a:p>
                  <a:pPr>
                    <a:defRPr lang="en-US" sz="1500" b="0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687583012390467"/>
                      <c:h val="0.282842839616523"/>
                    </c:manualLayout>
                  </c15:layout>
                </c:ext>
              </c:extLst>
            </c:dLbl>
            <c:dLbl>
              <c:idx val="1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en-US" sz="15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Sheet1!$A$2:$A$5</c:f>
              <c:numCache>
                <c:formatCode>General</c:formatCode>
                <c:ptCount val="4"/>
              </c:numCache>
            </c:num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0.13</c:v>
                </c:pt>
                <c:pt idx="1">
                  <c:v>0.87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firstSliceAng val="0"/>
        <c:holeSize val="75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065d0905-e9b5-4f2a-a5c8-2beaa70e1631}"/>
      </c:ext>
    </c:extLst>
  </c:chart>
  <c:spPr>
    <a:noFill/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lang="en-US" sz="186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Apps</a:t>
            </a:r>
            <a:endParaRPr lang="en-US" dirty="0"/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Mobile Web</c:v>
                </c:pt>
              </c:strCache>
            </c:strRef>
          </c:tx>
          <c:spPr/>
          <c:explosion val="0"/>
          <c:dPt>
            <c:idx val="0"/>
            <c:bubble3D val="0"/>
            <c:spPr>
              <a:solidFill>
                <a:schemeClr val="accent2">
                  <a:tint val="58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"/>
            <c:bubble3D val="0"/>
            <c:spPr>
              <a:solidFill>
                <a:schemeClr val="accent2">
                  <a:tint val="86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2"/>
            <c:bubble3D val="0"/>
            <c:spPr>
              <a:solidFill>
                <a:schemeClr val="accent2">
                  <a:shade val="86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3"/>
            <c:bubble3D val="0"/>
            <c:spPr>
              <a:solidFill>
                <a:schemeClr val="accent2">
                  <a:shade val="58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Lbls>
            <c:dLbl>
              <c:idx val="0"/>
              <c:layout>
                <c:manualLayout>
                  <c:x val="-0.0722476998981706"/>
                  <c:y val="-0.289793169395303"/>
                </c:manualLayout>
              </c:layout>
              <c:tx>
                <c:rich>
                  <a:bodyPr rot="0" spcFirstLastPara="1" vertOverflow="ellipsis" vert="horz" wrap="square" lIns="38100" tIns="19050" rIns="38100" bIns="19050" anchor="ctr" anchorCtr="1"/>
                  <a:lstStyle/>
                  <a:p>
                    <a:pPr defTabSz="914400">
                      <a:defRPr lang="en-US" sz="2800" b="0" i="0" u="none" strike="noStrike" kern="1200" baseline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r>
                      <a:rPr lang="en-US" b="1" i="0" baseline="0" smtClean="0"/>
                      <a:t>87%</a:t>
                    </a:r>
                    <a:endParaRPr lang="en-US" b="1" i="0" baseline="0" smtClean="0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1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en-US" sz="28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Sheet1!$A$2:$A$5</c:f>
              <c:numCache>
                <c:formatCode>General</c:formatCode>
                <c:ptCount val="4"/>
              </c:numCache>
            </c:num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0.87</c:v>
                </c:pt>
                <c:pt idx="1">
                  <c:v>0.13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firstSliceAng val="0"/>
        <c:holeSize val="75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4321e480-912d-4a2c-855c-8170a07bc1a3}"/>
      </c:ext>
    </c:extLst>
  </c:chart>
  <c:spPr>
    <a:noFill/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Mobile Web</c:v>
                </c:pt>
              </c:strCache>
            </c:strRef>
          </c:tx>
          <c:spPr/>
          <c:explosion val="0"/>
          <c:dPt>
            <c:idx val="0"/>
            <c:bubble3D val="0"/>
            <c:spPr>
              <a:solidFill>
                <a:schemeClr val="accent2">
                  <a:tint val="58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"/>
            <c:bubble3D val="0"/>
            <c:spPr>
              <a:solidFill>
                <a:schemeClr val="accent2">
                  <a:tint val="86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2"/>
            <c:bubble3D val="0"/>
            <c:spPr>
              <a:solidFill>
                <a:schemeClr val="accent2">
                  <a:shade val="86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3"/>
            <c:bubble3D val="0"/>
            <c:spPr>
              <a:solidFill>
                <a:schemeClr val="accent2">
                  <a:shade val="58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Lbls>
            <c:dLbl>
              <c:idx val="0"/>
              <c:layout>
                <c:manualLayout>
                  <c:x val="-0.143794323503366"/>
                  <c:y val="-0.0722662802757742"/>
                </c:manualLayout>
              </c:layout>
              <c:tx>
                <c:rich>
                  <a:bodyPr rot="0" spcFirstLastPara="1" vertOverflow="ellipsis" vert="horz" wrap="square" lIns="38100" tIns="19050" rIns="38100" bIns="19050" anchor="ctr" anchorCtr="1">
                    <a:noAutofit/>
                  </a:bodyPr>
                  <a:lstStyle/>
                  <a:p>
                    <a:pPr>
                      <a:defRPr lang="en-US" sz="1500" b="0" i="0" u="none" strike="noStrike" kern="1200" baseline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r>
                      <a:rPr lang="en-US" sz="2800" b="1" baseline="0" dirty="0"/>
                      <a:t>40%</a:t>
                    </a:r>
                    <a:endParaRPr lang="en-US" sz="2800" b="1" baseline="0" dirty="0"/>
                  </a:p>
                </c:rich>
              </c:tx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noAutofit/>
                </a:bodyPr>
                <a:lstStyle/>
                <a:p>
                  <a:pPr>
                    <a:defRPr lang="en-US" sz="1500" b="0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687583012390467"/>
                      <c:h val="0.282842839616523"/>
                    </c:manualLayout>
                  </c15:layout>
                </c:ext>
              </c:extLst>
            </c:dLbl>
            <c:dLbl>
              <c:idx val="1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en-US" sz="15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Sheet1!$A$2:$A$5</c:f>
              <c:numCache>
                <c:formatCode>General</c:formatCode>
                <c:ptCount val="4"/>
              </c:numCache>
            </c:num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0.6</c:v>
                </c:pt>
                <c:pt idx="1">
                  <c:v>0.4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firstSliceAng val="0"/>
        <c:holeSize val="75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6fd193bc-afaa-4264-a3ed-2be030c30c4a}"/>
      </c:ext>
    </c:extLst>
  </c:chart>
  <c:spPr>
    <a:noFill/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withinLinearReversed" id="22">
  <a:schemeClr val="accent2"/>
</cs:colorStyle>
</file>

<file path=ppt/charts/colors2.xml><?xml version="1.0" encoding="utf-8"?>
<cs:colorStyle xmlns:cs="http://schemas.microsoft.com/office/drawing/2012/chartStyle" xmlns:a="http://schemas.openxmlformats.org/drawingml/2006/main" meth="withinLinearReversed" id="22">
  <a:schemeClr val="accent2"/>
</cs:colorStyle>
</file>

<file path=ppt/charts/colors3.xml><?xml version="1.0" encoding="utf-8"?>
<cs:colorStyle xmlns:cs="http://schemas.microsoft.com/office/drawing/2012/chartStyle" xmlns:a="http://schemas.openxmlformats.org/drawingml/2006/main" meth="withinLinearReversed" id="22">
  <a:schemeClr val="accent2"/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645152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4DA70-C731-4C70-880D-CCD4705E623C}" type="datetime1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1D723-8F53-4F53-90B0-1982A396982E}" type="datetime1">
              <a:rPr lang="en-US" smtClean="0"/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90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663440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485132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69AF7-7BEB-44E4-9852-375E34362B5B}" type="datetime1">
              <a:rPr lang="en-US" smtClean="0"/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2120900"/>
            <a:ext cx="4639736" cy="37481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15944" y="2120900"/>
            <a:ext cx="4639736" cy="37481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AC38D-0552-4C82-B593-E6124DFADBE2}" type="datetime1">
              <a:rPr lang="en-US" smtClean="0"/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958274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15944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15944" y="2958273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F0F1C-5577-4ACB-BB62-DF8F3C494C7E}" type="datetime1">
              <a:rPr lang="en-US" smtClean="0"/>
            </a:fld>
            <a:endParaRPr lang="en-US" dirty="0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5B394-D9F9-4F0C-B15D-605F45CB9E9F}" type="datetime1">
              <a:rPr lang="en-US" smtClean="0"/>
            </a:fld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67345-2558-425A-8533-9BFDBCE15005}" type="datetime1">
              <a:rPr lang="en-US" smtClean="0"/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 showMasterSp="0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654296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anchor="b">
            <a:normAutofit/>
          </a:bodyPr>
          <a:lstStyle>
            <a:lvl1pPr>
              <a:lnSpc>
                <a:spcPct val="90000"/>
              </a:lnSpc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58984" y="812799"/>
            <a:ext cx="5928344" cy="52947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3465" y="3043050"/>
            <a:ext cx="3517567" cy="3064505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43464" y="6446520"/>
            <a:ext cx="3517568" cy="365125"/>
          </a:xfrm>
        </p:spPr>
        <p:txBody>
          <a:bodyPr/>
          <a:lstStyle>
            <a:lvl1pPr algn="l">
              <a:defRPr/>
            </a:lvl1pPr>
          </a:lstStyle>
          <a:p>
            <a:fld id="{92BEA474-078D-4E9B-9B14-09A87B19DC46}" type="datetime1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458983" y="6446520"/>
            <a:ext cx="5334019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A98EE3D-8CD1-4C3F-BD1C-C98C9596463C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showMasterSp="0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578350"/>
          </a:xfrm>
          <a:solidFill>
            <a:schemeClr val="bg1">
              <a:lumMod val="85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907D986-8816-4272-A432-0437A28A9828}" type="datetime1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0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rgbClr val="FFFFFF"/>
                </a:solidFill>
              </a:defRPr>
            </a:lvl1pPr>
          </a:lstStyle>
          <a:p>
            <a:fld id="{62D6E202-B606-4609-B914-27C9371A1F6D}" type="datetime1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rgbClr val="FFFFFF"/>
                </a:solidFill>
              </a:defRPr>
            </a:lvl1pPr>
          </a:lstStyle>
          <a:p>
            <a:fld id="{3A98EE3D-8CD1-4C3F-BD1C-C98C9596463C}" type="slidenum">
              <a:rPr lang="en-US" smtClean="0"/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700" i="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11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175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anose="020F0502020204030204" pitchFamily="34" charset="0"/>
        <a:buChar char="◦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7055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anose="020F0502020204030204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935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anose="020F0502020204030204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815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anose="020F0502020204030204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09982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299845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49987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699895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hemeOverride" Target="../theme/themeOverride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chart" Target="../charts/chart2.xml"/><Relationship Id="rId1" Type="http://schemas.openxmlformats.org/officeDocument/2006/relationships/chart" Target="../charts/char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chart" Target="../charts/char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hyperlink" Target="https://developer.mozilla.org/en-US/docs/Web/Progressive_web_apps/Introduction#Advantages_of_web_applications#Safe" TargetMode="External"/><Relationship Id="rId7" Type="http://schemas.openxmlformats.org/officeDocument/2006/relationships/hyperlink" Target="https://developer.mozilla.org/en-US/docs/Web/Progressive_web_apps/Introduction#Advantages_of_web_applications#Responsive" TargetMode="External"/><Relationship Id="rId6" Type="http://schemas.openxmlformats.org/officeDocument/2006/relationships/hyperlink" Target="https://developer.mozilla.org/en-US/docs/Web/Progressive_web_apps/Introduction#Advantages_of_web_applications#Re-engageable" TargetMode="External"/><Relationship Id="rId5" Type="http://schemas.openxmlformats.org/officeDocument/2006/relationships/hyperlink" Target="https://developer.mozilla.org/en-US/docs/Web/Progressive_web_apps/Introduction#Advantages_of_web_applications#Progressive" TargetMode="External"/><Relationship Id="rId4" Type="http://schemas.openxmlformats.org/officeDocument/2006/relationships/hyperlink" Target="https://developer.mozilla.org/en-US/docs/Web/Progressive_web_apps/Introduction#Advantages_of_web_applications#Network_independent" TargetMode="External"/><Relationship Id="rId3" Type="http://schemas.openxmlformats.org/officeDocument/2006/relationships/hyperlink" Target="https://developer.mozilla.org/en-US/docs/Web/Progressive_web_apps/Introduction#Advantages_of_web_applications#Linkable" TargetMode="External"/><Relationship Id="rId2" Type="http://schemas.openxmlformats.org/officeDocument/2006/relationships/hyperlink" Target="https://developer.mozilla.org/en-US/docs/Web/Progressive_web_apps/Introduction#Advantages_of_web_applications#Installable" TargetMode="External"/><Relationship Id="rId1" Type="http://schemas.openxmlformats.org/officeDocument/2006/relationships/hyperlink" Target="https://developer.mozilla.org/en-US/docs/Web/Progressive_web_apps/Introduction#Advantages_of_web_applications#Discoverable" TargetMode="Externa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hyperlink" Target="https://developer.mozilla.org/en-US/docs/Web/API/Web_Workers_API" TargetMode="External"/><Relationship Id="rId1" Type="http://schemas.openxmlformats.org/officeDocument/2006/relationships/hyperlink" Target="https://developer.mozilla.org/en-US/docs/Web/API/Service_Worker_API" TargetMode="Externa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hyperlink" Target="https://www.bluehost.com/blog/how-to-fix-the-https-not-secure-message-in-chrome/" TargetMode="Externa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hyperlink" Target="https://developer.mozilla.org/en-US/docs/Web/API/XMLHttpRequest" TargetMode="External"/><Relationship Id="rId1" Type="http://schemas.openxmlformats.org/officeDocument/2006/relationships/hyperlink" Target="https://developer.mozilla.org/en-US/docs/Web/API/Fetch_API" TargetMode="Externa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hyperlink" Target="https://developers.google.com/web/updates/2018/06/a2hs-updates" TargetMode="Externa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hyperlink" Target="https://www.simicart.com/manifest-generator.html/" TargetMode="Externa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1" y="0"/>
            <a:ext cx="12188726" cy="68589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 panose="020F0502020204030204"/>
              <a:ea typeface="+mn-ea"/>
              <a:cs typeface="+mn-cs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0" y="975"/>
            <a:ext cx="12191980" cy="6858000"/>
          </a:xfrm>
          <a:prstGeom prst="rect">
            <a:avLst/>
          </a:prstGeom>
        </p:spPr>
      </p:pic>
      <p:sp>
        <p:nvSpPr>
          <p:cNvPr id="30" name="Rectangle 29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7912607" y="1238442"/>
            <a:ext cx="3635926" cy="4355751"/>
          </a:xfrm>
          <a:prstGeom prst="rect">
            <a:avLst/>
          </a:prstGeom>
          <a:solidFill>
            <a:schemeClr val="bg1"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23416" y="1475234"/>
            <a:ext cx="3214307" cy="2901694"/>
          </a:xfrm>
        </p:spPr>
        <p:txBody>
          <a:bodyPr anchor="b">
            <a:normAutofit/>
          </a:bodyPr>
          <a:lstStyle/>
          <a:p>
            <a:r>
              <a:rPr lang="en-US" sz="4400" dirty="0">
                <a:solidFill>
                  <a:schemeClr val="tx1"/>
                </a:solidFill>
              </a:rPr>
              <a:t>Progressive Web App</a:t>
            </a:r>
            <a:endParaRPr lang="en-US" sz="4400" dirty="0">
              <a:solidFill>
                <a:schemeClr val="tx1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127750" y="4608576"/>
            <a:ext cx="3205640" cy="774186"/>
          </a:xfrm>
        </p:spPr>
        <p:txBody>
          <a:bodyPr anchor="t">
            <a:normAutofit/>
          </a:bodyPr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cxnSp>
        <p:nvCxnSpPr>
          <p:cNvPr id="32" name="Straight Connector 31"/>
          <p:cNvCxnSpPr>
            <a:cxnSpLocks noGrp="1" noRot="1" noChangeAspect="1" noMove="1" noResize="1" noEditPoints="1" noAdjustHandles="1" noChangeArrowheads="1" noChangeShapeType="1"/>
          </p:cNvCxnSpPr>
          <p:nvPr/>
        </p:nvCxnSpPr>
        <p:spPr>
          <a:xfrm>
            <a:off x="8176090" y="4508519"/>
            <a:ext cx="3108960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Rectangle 33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rgbClr val="262626">
              <a:alpha val="9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6056" y="2461633"/>
            <a:ext cx="10058400" cy="1450757"/>
          </a:xfrm>
        </p:spPr>
        <p:txBody>
          <a:bodyPr/>
          <a:lstStyle/>
          <a:p>
            <a:r>
              <a:rPr lang="en-US" dirty="0"/>
              <a:t>Websites Or Native Apps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/>
        </p:nvGraphicFramePr>
        <p:xfrm>
          <a:off x="2223588" y="2426117"/>
          <a:ext cx="3691467" cy="280475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7" name="Content Placeholder 5"/>
          <p:cNvGraphicFramePr/>
          <p:nvPr/>
        </p:nvGraphicFramePr>
        <p:xfrm>
          <a:off x="6205920" y="2426117"/>
          <a:ext cx="3691467" cy="280475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8000" dirty="0"/>
              <a:t>80%</a:t>
            </a:r>
            <a:endParaRPr lang="en-US" sz="8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6000" dirty="0"/>
              <a:t>Of Time Spent In</a:t>
            </a:r>
            <a:endParaRPr lang="en-US" sz="6000" dirty="0"/>
          </a:p>
          <a:p>
            <a:pPr marL="0" indent="0" algn="ctr">
              <a:buNone/>
            </a:pPr>
            <a:r>
              <a:rPr lang="en-US" sz="6000" dirty="0"/>
              <a:t>USERS’ Top 3 Apps</a:t>
            </a:r>
            <a:endParaRPr lang="en-US" sz="6000" dirty="0"/>
          </a:p>
          <a:p>
            <a:pPr algn="ctr"/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875494"/>
            <a:ext cx="10058400" cy="510701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972552"/>
            <a:ext cx="10058400" cy="491289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was missing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Reliable Performance</a:t>
            </a:r>
            <a:endParaRPr lang="en-US" dirty="0"/>
          </a:p>
          <a:p>
            <a:r>
              <a:rPr lang="en-US" dirty="0"/>
              <a:t>Push Notification</a:t>
            </a:r>
            <a:endParaRPr lang="en-US" dirty="0"/>
          </a:p>
          <a:p>
            <a:r>
              <a:rPr lang="en-US" dirty="0"/>
              <a:t>Home screen icon metadata</a:t>
            </a:r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2"/>
          <p:cNvSpPr txBox="1"/>
          <p:nvPr/>
        </p:nvSpPr>
        <p:spPr>
          <a:xfrm>
            <a:off x="4986869" y="3429000"/>
            <a:ext cx="5909727" cy="2446868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1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175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anose="020F0502020204030204" pitchFamily="34" charset="0"/>
              <a:buChar char="◦"/>
              <a:defRPr sz="17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7055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anose="020F0502020204030204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935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anose="020F0502020204030204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815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anose="020F0502020204030204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09982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299845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49987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699895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Calibri" panose="020F0502020204030204" pitchFamily="34" charset="0"/>
              <a:buNone/>
            </a:pPr>
            <a:r>
              <a:rPr lang="en-US" sz="2800">
                <a:solidFill>
                  <a:srgbClr val="595959"/>
                </a:solidFill>
                <a:latin typeface="Roboto"/>
              </a:rPr>
              <a:t>40% of users bounce from sites that take longer than </a:t>
            </a:r>
            <a:r>
              <a:rPr lang="en-US" sz="2800" b="1">
                <a:solidFill>
                  <a:srgbClr val="595959"/>
                </a:solidFill>
                <a:latin typeface="Roboto"/>
              </a:rPr>
              <a:t>3 seconds</a:t>
            </a:r>
            <a:r>
              <a:rPr lang="en-US" sz="2800">
                <a:solidFill>
                  <a:srgbClr val="595959"/>
                </a:solidFill>
                <a:latin typeface="Roboto"/>
              </a:rPr>
              <a:t> to load</a:t>
            </a:r>
            <a:endParaRPr lang="en-US" sz="2800"/>
          </a:p>
          <a:p>
            <a:endParaRPr lang="en-US" dirty="0"/>
          </a:p>
        </p:txBody>
      </p:sp>
      <p:graphicFrame>
        <p:nvGraphicFramePr>
          <p:cNvPr id="5" name="Content Placeholder 5"/>
          <p:cNvGraphicFramePr/>
          <p:nvPr/>
        </p:nvGraphicFramePr>
        <p:xfrm>
          <a:off x="1295402" y="2556932"/>
          <a:ext cx="3691467" cy="280475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Progressive Web Apps?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The term "Progressive Web App" isn't a formal or official name. It's just a shorthand used initially by Google for the concept of creating a flexible, adaptable app using only web technologies.</a:t>
            </a:r>
            <a:endParaRPr lang="en-US" dirty="0"/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For example, web apps are more discoverable than native apps; it's a lot easier and faster to visit a website than to install an application, and you can also share web apps by sending a link.</a:t>
            </a:r>
            <a:endParaRPr lang="en-US" dirty="0"/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On the other hand, native apps are better integrated with the operating system and therefore offer a more seamless experience for the users. You can install a native app so that it works offline, and users love tapping their icons to easily access their favorite apps, rather than navigating to it using a browser.</a:t>
            </a:r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95401" y="982132"/>
            <a:ext cx="9601196" cy="489373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makes an App a PWA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2"/>
          <p:cNvSpPr txBox="1"/>
          <p:nvPr/>
        </p:nvSpPr>
        <p:spPr>
          <a:xfrm>
            <a:off x="1036320" y="2114977"/>
            <a:ext cx="9860278" cy="3760891"/>
          </a:xfrm>
          <a:prstGeom prst="rect">
            <a:avLst/>
          </a:prstGeom>
        </p:spPr>
        <p:txBody>
          <a:bodyPr vert="horz" lIns="0" tIns="45720" rIns="0" bIns="45720" rtlCol="0">
            <a:normAutofit fontScale="85000" lnSpcReduction="20000"/>
          </a:bodyPr>
          <a:lstStyle>
            <a:lvl1pPr marL="91440" indent="-9144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1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175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anose="020F0502020204030204" pitchFamily="34" charset="0"/>
              <a:buChar char="◦"/>
              <a:defRPr sz="17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7055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anose="020F0502020204030204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935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anose="020F0502020204030204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815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anose="020F0502020204030204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09982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299845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49987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699895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hlinkClick r:id="rId1"/>
              </a:rPr>
              <a:t>Discoverable</a:t>
            </a:r>
            <a:r>
              <a:rPr lang="en-US" dirty="0"/>
              <a:t>, so the contents can be found through search engines.</a:t>
            </a:r>
            <a:endParaRPr lang="en-US" dirty="0"/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hlinkClick r:id="rId2"/>
              </a:rPr>
              <a:t>Installable</a:t>
            </a:r>
            <a:r>
              <a:rPr lang="en-US" dirty="0"/>
              <a:t>, so it can be available on the device's home screen or app launcher.</a:t>
            </a:r>
            <a:endParaRPr lang="en-US" dirty="0"/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hlinkClick r:id="rId3"/>
              </a:rPr>
              <a:t>Linkable</a:t>
            </a:r>
            <a:r>
              <a:rPr lang="en-US" dirty="0"/>
              <a:t>, so you can share it by sending a URL.</a:t>
            </a:r>
            <a:endParaRPr lang="en-US" dirty="0"/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hlinkClick r:id="rId4"/>
              </a:rPr>
              <a:t>Network independent</a:t>
            </a:r>
            <a:r>
              <a:rPr lang="en-US" dirty="0"/>
              <a:t>, so it works offline or with a poor network connection.</a:t>
            </a:r>
            <a:endParaRPr lang="en-US" dirty="0"/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hlinkClick r:id="rId5"/>
              </a:rPr>
              <a:t>Progressive</a:t>
            </a:r>
            <a:r>
              <a:rPr lang="en-US" dirty="0"/>
              <a:t>, so it's still usable on a basic level on older browsers, but fully-functional on the latest ones.</a:t>
            </a:r>
            <a:endParaRPr lang="en-US" dirty="0"/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hlinkClick r:id="rId6"/>
              </a:rPr>
              <a:t>Re-engageable</a:t>
            </a:r>
            <a:r>
              <a:rPr lang="en-US" dirty="0"/>
              <a:t>, so it's able to send notifications whenever there's new content available.</a:t>
            </a:r>
            <a:endParaRPr lang="en-US" dirty="0"/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hlinkClick r:id="rId7"/>
              </a:rPr>
              <a:t>Responsive</a:t>
            </a:r>
            <a:r>
              <a:rPr lang="en-US" dirty="0"/>
              <a:t>, so it's usable on any device with a screen and a browser—mobile phones, tablets, laptops, TVs, refrigerators, etc.</a:t>
            </a:r>
            <a:endParaRPr lang="en-US" dirty="0"/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hlinkClick r:id="rId8"/>
              </a:rPr>
              <a:t>Safe</a:t>
            </a:r>
            <a:r>
              <a:rPr lang="en-US" dirty="0"/>
              <a:t>, so the connections between the user, the app, and your server are secured against any third parties trying to get access to sensitive data.</a:t>
            </a:r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5685" y="0"/>
            <a:ext cx="12186315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anklin Gothic Book" panose="020F0502020204030204"/>
              <a:ea typeface="+mn-ea"/>
              <a:cs typeface="+mn-cs"/>
            </a:endParaRPr>
          </a:p>
        </p:txBody>
      </p:sp>
      <p:sp>
        <p:nvSpPr>
          <p:cNvPr id="12" name="Rectangle 11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2370" y="516835"/>
            <a:ext cx="3084844" cy="5772840"/>
          </a:xfrm>
        </p:spPr>
        <p:txBody>
          <a:bodyPr anchor="ctr">
            <a:normAutofit/>
          </a:bodyPr>
          <a:lstStyle/>
          <a:p>
            <a:r>
              <a:rPr lang="en-US" sz="3200" dirty="0">
                <a:solidFill>
                  <a:srgbClr val="FF0000"/>
                </a:solidFill>
              </a:rPr>
              <a:t>What are the technical components of PWA</a:t>
            </a:r>
            <a:endParaRPr lang="en-US" sz="3600" dirty="0">
              <a:solidFill>
                <a:srgbClr val="FF0000"/>
              </a:solidFill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" name="Content Placeholder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38835" y="2778125"/>
            <a:ext cx="6578353" cy="227647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Service Worker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202124"/>
                </a:solidFill>
                <a:effectLst/>
                <a:latin typeface="Roboto" panose="02000000000000000000" pitchFamily="2" charset="0"/>
              </a:rPr>
              <a:t>A </a:t>
            </a:r>
            <a:r>
              <a:rPr lang="en-US" b="0" i="0" dirty="0">
                <a:effectLst/>
                <a:latin typeface="Roboto" panose="02000000000000000000" pitchFamily="2" charset="0"/>
                <a:hlinkClick r:id="rId1"/>
              </a:rPr>
              <a:t>service worker</a:t>
            </a:r>
            <a:r>
              <a:rPr lang="en-US" b="0" i="0" dirty="0">
                <a:solidFill>
                  <a:srgbClr val="202124"/>
                </a:solidFill>
                <a:effectLst/>
                <a:latin typeface="Roboto" panose="02000000000000000000" pitchFamily="2" charset="0"/>
              </a:rPr>
              <a:t> is a type of </a:t>
            </a:r>
            <a:r>
              <a:rPr lang="en-US" b="0" i="0" dirty="0">
                <a:effectLst/>
                <a:latin typeface="Roboto" panose="02000000000000000000" pitchFamily="2" charset="0"/>
                <a:hlinkClick r:id="rId2"/>
              </a:rPr>
              <a:t>web worker</a:t>
            </a:r>
            <a:r>
              <a:rPr lang="en-US" b="0" i="0" dirty="0">
                <a:solidFill>
                  <a:srgbClr val="202124"/>
                </a:solidFill>
                <a:effectLst/>
                <a:latin typeface="Roboto" panose="02000000000000000000" pitchFamily="2" charset="0"/>
              </a:rPr>
              <a:t>. It's essentially a JavaScript file that runs separately from the main browser thread, intercepting network requests, caching or retrieving resources from the cache, and delivering push messages.</a:t>
            </a:r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HTTPS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3D4E5E"/>
                </a:solidFill>
                <a:effectLst/>
                <a:latin typeface="Sintony"/>
              </a:rPr>
              <a:t>Google Chrome makes it clear to a user when they visit an unsafe website. The address bar will display </a:t>
            </a:r>
            <a:r>
              <a:rPr lang="en-US" b="0" i="0" dirty="0">
                <a:solidFill>
                  <a:srgbClr val="3575D3"/>
                </a:solidFill>
                <a:effectLst/>
                <a:latin typeface="Sintony"/>
                <a:hlinkClick r:id="rId1"/>
              </a:rPr>
              <a:t>“Not secure”</a:t>
            </a:r>
            <a:r>
              <a:rPr lang="en-US" b="0" i="0" dirty="0">
                <a:solidFill>
                  <a:srgbClr val="3D4E5E"/>
                </a:solidFill>
                <a:effectLst/>
                <a:latin typeface="Sintony"/>
              </a:rPr>
              <a:t> before the domain name, which tells users that their information is vulnerable to being stolen. </a:t>
            </a:r>
            <a:endParaRPr lang="en-US" b="0" i="0" dirty="0">
              <a:solidFill>
                <a:srgbClr val="3D4E5E"/>
              </a:solidFill>
              <a:effectLst/>
              <a:latin typeface="Sintony"/>
            </a:endParaRPr>
          </a:p>
          <a:p>
            <a:pPr algn="l"/>
            <a:r>
              <a:rPr lang="en-US" b="0" i="0" dirty="0">
                <a:solidFill>
                  <a:srgbClr val="3D4E5E"/>
                </a:solidFill>
                <a:effectLst/>
                <a:latin typeface="Sintony"/>
              </a:rPr>
              <a:t>HTTPS is a pillar of a safe internet experience. It shows your customers you’re committed to security and that you care about their data and keeping it private. </a:t>
            </a:r>
            <a:endParaRPr lang="en-US" b="0" i="0" dirty="0">
              <a:solidFill>
                <a:srgbClr val="3D4E5E"/>
              </a:solidFill>
              <a:effectLst/>
              <a:latin typeface="Sintony"/>
            </a:endParaRPr>
          </a:p>
          <a:p>
            <a:pPr algn="l"/>
            <a:r>
              <a:rPr lang="en-US" b="0" i="0" dirty="0">
                <a:solidFill>
                  <a:srgbClr val="3D4E5E"/>
                </a:solidFill>
                <a:effectLst/>
                <a:latin typeface="Sintony"/>
              </a:rPr>
              <a:t>An insecure website looks bad to customers, and it can hurt your search engine optimization (SEO) ranking in relevant searches. </a:t>
            </a:r>
            <a:endParaRPr lang="en-US" b="0" i="0" dirty="0">
              <a:solidFill>
                <a:srgbClr val="3D4E5E"/>
              </a:solidFill>
              <a:effectLst/>
              <a:latin typeface="Sintony"/>
            </a:endParaRPr>
          </a:p>
          <a:p>
            <a:endParaRPr 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3839" y="618148"/>
            <a:ext cx="9601195" cy="4893736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Service Worker life cycle</a:t>
            </a:r>
            <a:endParaRPr lang="en-US" dirty="0"/>
          </a:p>
        </p:txBody>
      </p:sp>
      <p:pic>
        <p:nvPicPr>
          <p:cNvPr id="4" name="Content Placeholder 4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695074" y="2826544"/>
            <a:ext cx="5740901" cy="2324100"/>
          </a:xfr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Register Service Worker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850232" y="2422358"/>
            <a:ext cx="10571747" cy="3368842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Install and Activate Service Worker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746419" y="2406316"/>
            <a:ext cx="10409261" cy="2606215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Fetch</a:t>
            </a:r>
            <a:endParaRPr lang="en-US" dirty="0"/>
          </a:p>
        </p:txBody>
      </p:sp>
      <p:pic>
        <p:nvPicPr>
          <p:cNvPr id="4" name="Content Placeholder 4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844800" y="3336131"/>
            <a:ext cx="6562725" cy="1304925"/>
          </a:xfr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Fetch API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the </a:t>
            </a:r>
            <a:r>
              <a:rPr lang="en-US" dirty="0">
                <a:hlinkClick r:id="rId1"/>
              </a:rPr>
              <a:t>Fetch API</a:t>
            </a:r>
            <a:r>
              <a:rPr lang="en-US" dirty="0"/>
              <a:t>, a simple interface for fetching resources, and an improvement over the </a:t>
            </a:r>
            <a:r>
              <a:rPr lang="en-US" dirty="0" err="1">
                <a:hlinkClick r:id="rId2"/>
              </a:rPr>
              <a:t>XMLHttpRequest</a:t>
            </a:r>
            <a:r>
              <a:rPr lang="en-US" dirty="0"/>
              <a:t> API.</a:t>
            </a:r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 to Home Screen Feature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en-US" b="0" i="0" dirty="0">
                <a:solidFill>
                  <a:srgbClr val="1B1B1B"/>
                </a:solidFill>
                <a:effectLst/>
                <a:latin typeface="Inter"/>
              </a:rPr>
              <a:t>Add to Home screen (or A2HS for short) is a feature available in modern browsers that allows a user to "install" a web app, </a:t>
            </a:r>
            <a:r>
              <a:rPr lang="en-US" b="0" i="0" dirty="0" err="1">
                <a:solidFill>
                  <a:srgbClr val="1B1B1B"/>
                </a:solidFill>
                <a:effectLst/>
                <a:latin typeface="Inter"/>
              </a:rPr>
              <a:t>ie</a:t>
            </a:r>
            <a:r>
              <a:rPr lang="en-US" b="0" i="0" dirty="0">
                <a:solidFill>
                  <a:srgbClr val="1B1B1B"/>
                </a:solidFill>
                <a:effectLst/>
                <a:latin typeface="Inter"/>
              </a:rPr>
              <a:t>. add a shortcut to their Home screen representing their favorite web app (or site) so they can subsequently access it with a single tap.</a:t>
            </a:r>
            <a:endParaRPr lang="en-US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Activating the install prompt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Chrome 67 prompted users automatically, but </a:t>
            </a:r>
            <a:r>
              <a:rPr lang="en-US" dirty="0">
                <a:hlinkClick r:id="rId1"/>
              </a:rPr>
              <a:t>starting in Chrome 68</a:t>
            </a:r>
            <a:r>
              <a:rPr lang="en-US" dirty="0"/>
              <a:t>, the install prompt should be activated programmatically in response to a user gesture.</a:t>
            </a:r>
            <a:endParaRPr lang="en-US" dirty="0"/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The </a:t>
            </a:r>
            <a:r>
              <a:rPr lang="en-US" dirty="0" err="1"/>
              <a:t>beforeInstallPromptEvent</a:t>
            </a:r>
            <a:r>
              <a:rPr lang="en-US" dirty="0"/>
              <a:t> is fired at the </a:t>
            </a:r>
            <a:r>
              <a:rPr lang="en-US" dirty="0" err="1"/>
              <a:t>window.onbeforeinstallprompt</a:t>
            </a:r>
            <a:r>
              <a:rPr lang="en-US" dirty="0"/>
              <a:t> handler before a user is prompt to “install” a web site to a home screen on mobile</a:t>
            </a:r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Manifest File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The web app manifest is a JSON file that tells the browser about your Progressive Web App and how it should behave when installed on the user's desktop or mobile device. A typical manifest file includes the app name, the icons the app should use, and the URL that should be opened when the app is launched.</a:t>
            </a:r>
            <a:endParaRPr lang="en-US" dirty="0"/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To generate manifest file you can use </a:t>
            </a:r>
            <a:br>
              <a:rPr lang="en-US" dirty="0"/>
            </a:br>
            <a:r>
              <a:rPr lang="en-US" dirty="0">
                <a:hlinkClick r:id="rId1"/>
              </a:rPr>
              <a:t>https://www.simicart.com/manifest-generator.html/</a:t>
            </a:r>
            <a:endParaRPr lang="en-US" dirty="0"/>
          </a:p>
          <a:p>
            <a:pPr>
              <a:buFont typeface="Wingdings" panose="05000000000000000000" pitchFamily="2" charset="2"/>
              <a:buChar char="q"/>
            </a:pPr>
            <a:endParaRPr lang="en-US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70414" y="990600"/>
            <a:ext cx="4857750" cy="48768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Working Offline using Cache API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The Cache interface provides a persistent storage mechanism for Request/Response objects pairs that are cached in long lived memory. How long a Cache object lives is browser dependent, but a single origin’s scripts can typically rely on the presence of a previously populated Cache object.</a:t>
            </a:r>
            <a:endParaRPr lang="en-US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Assignment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Create your own button that enable you to implement add to home screen feature on any browser and </a:t>
            </a:r>
            <a:r>
              <a:rPr lang="en-US"/>
              <a:t>bonus (test </a:t>
            </a:r>
            <a:r>
              <a:rPr lang="en-US" dirty="0"/>
              <a:t>your feature </a:t>
            </a:r>
            <a:r>
              <a:rPr lang="en-US"/>
              <a:t>on mobile).</a:t>
            </a:r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RetrospectVTI">
  <a:themeElements>
    <a:clrScheme name="Custom 34">
      <a:dk1>
        <a:sysClr val="windowText" lastClr="000000"/>
      </a:dk1>
      <a:lt1>
        <a:sysClr val="window" lastClr="FFFFFF"/>
      </a:lt1>
      <a:dk2>
        <a:srgbClr val="39302A"/>
      </a:dk2>
      <a:lt2>
        <a:srgbClr val="E5DEDB"/>
      </a:lt2>
      <a:accent1>
        <a:srgbClr val="EC7016"/>
      </a:accent1>
      <a:accent2>
        <a:srgbClr val="F8931D"/>
      </a:accent2>
      <a:accent3>
        <a:srgbClr val="CE8D3E"/>
      </a:accent3>
      <a:accent4>
        <a:srgbClr val="E64823"/>
      </a:accent4>
      <a:accent5>
        <a:srgbClr val="FFCA08"/>
      </a:accent5>
      <a:accent6>
        <a:srgbClr val="9C6A6A"/>
      </a:accent6>
      <a:hlink>
        <a:srgbClr val="2998E3"/>
      </a:hlink>
      <a:folHlink>
        <a:srgbClr val="7F723D"/>
      </a:folHlink>
    </a:clrScheme>
    <a:fontScheme name="Retrospect">
      <a:majorFont>
        <a:latin typeface="Bookman Old Style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Franklin Gothic Book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Parcel">
    <a:dk1>
      <a:srgbClr val="000000"/>
    </a:dk1>
    <a:lt1>
      <a:srgbClr val="FFFFFF"/>
    </a:lt1>
    <a:dk2>
      <a:srgbClr val="4A5356"/>
    </a:dk2>
    <a:lt2>
      <a:srgbClr val="E8E3CE"/>
    </a:lt2>
    <a:accent1>
      <a:srgbClr val="F6A21D"/>
    </a:accent1>
    <a:accent2>
      <a:srgbClr val="9BAFB5"/>
    </a:accent2>
    <a:accent3>
      <a:srgbClr val="C96731"/>
    </a:accent3>
    <a:accent4>
      <a:srgbClr val="9CA383"/>
    </a:accent4>
    <a:accent5>
      <a:srgbClr val="87795D"/>
    </a:accent5>
    <a:accent6>
      <a:srgbClr val="A0988C"/>
    </a:accent6>
    <a:hlink>
      <a:srgbClr val="00B0F0"/>
    </a:hlink>
    <a:folHlink>
      <a:srgbClr val="738F97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4A2F666D9004F4DBB544B2BA9CA959F" ma:contentTypeVersion="11" ma:contentTypeDescription="Create a new document." ma:contentTypeScope="" ma:versionID="4a1d5f287f452c395029e33b7f83bc22">
  <xsd:schema xmlns:xsd="http://www.w3.org/2001/XMLSchema" xmlns:xs="http://www.w3.org/2001/XMLSchema" xmlns:p="http://schemas.microsoft.com/office/2006/metadata/properties" xmlns:ns2="e037c586-02bc-4813-b052-97076388d298" xmlns:ns3="401de2da-ea13-4943-8e61-48e6374afd49" targetNamespace="http://schemas.microsoft.com/office/2006/metadata/properties" ma:root="true" ma:fieldsID="36d05604081b2bc253591cab16c11199" ns2:_="" ns3:_="">
    <xsd:import namespace="e037c586-02bc-4813-b052-97076388d298"/>
    <xsd:import namespace="401de2da-ea13-4943-8e61-48e6374afd4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037c586-02bc-4813-b052-97076388d29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40513edf-9d01-408c-8f50-b47e619fdba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01de2da-ea13-4943-8e61-48e6374afd49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962248e0-5392-4891-9658-75548070487d}" ma:internalName="TaxCatchAll" ma:showField="CatchAllData" ma:web="401de2da-ea13-4943-8e61-48e6374afd4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401de2da-ea13-4943-8e61-48e6374afd49" xsi:nil="true"/>
    <lcf76f155ced4ddcb4097134ff3c332f xmlns="e037c586-02bc-4813-b052-97076388d298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2E5ECA37-C458-4BA2-A090-D7A19E07B434}">
  <ds:schemaRefs/>
</ds:datastoreItem>
</file>

<file path=customXml/itemProps2.xml><?xml version="1.0" encoding="utf-8"?>
<ds:datastoreItem xmlns:ds="http://schemas.openxmlformats.org/officeDocument/2006/customXml" ds:itemID="{CEB97286-3634-4B34-AF6A-14B9C6DC4F79}"/>
</file>

<file path=customXml/itemProps3.xml><?xml version="1.0" encoding="utf-8"?>
<ds:datastoreItem xmlns:ds="http://schemas.openxmlformats.org/officeDocument/2006/customXml" ds:itemID="{84F503EC-3FFF-4193-A86F-39150E2BAC75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{41C7FB51-F939-4816-8783-31C54940F46E}tf11429527_win32</Template>
  <TotalTime>0</TotalTime>
  <Words>4215</Words>
  <Application>WPS Presentation</Application>
  <PresentationFormat>Widescreen</PresentationFormat>
  <Paragraphs>88</Paragraphs>
  <Slides>26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26</vt:i4>
      </vt:variant>
    </vt:vector>
  </HeadingPairs>
  <TitlesOfParts>
    <vt:vector size="41" baseType="lpstr">
      <vt:lpstr>Arial</vt:lpstr>
      <vt:lpstr>SimSun</vt:lpstr>
      <vt:lpstr>Wingdings</vt:lpstr>
      <vt:lpstr>Calibri</vt:lpstr>
      <vt:lpstr>Franklin Gothic Book</vt:lpstr>
      <vt:lpstr>Roboto</vt:lpstr>
      <vt:lpstr>Times New Roman</vt:lpstr>
      <vt:lpstr>Bookman Old Style</vt:lpstr>
      <vt:lpstr>Segoe Print</vt:lpstr>
      <vt:lpstr>Microsoft YaHei</vt:lpstr>
      <vt:lpstr>Arial Unicode MS</vt:lpstr>
      <vt:lpstr>Roboto</vt:lpstr>
      <vt:lpstr>Sintony</vt:lpstr>
      <vt:lpstr>Inter</vt:lpstr>
      <vt:lpstr>1_RetrospectVTI</vt:lpstr>
      <vt:lpstr>Progressive Web App</vt:lpstr>
      <vt:lpstr>Websites Or Native Apps</vt:lpstr>
      <vt:lpstr>PowerPoint 演示文稿</vt:lpstr>
      <vt:lpstr>80%</vt:lpstr>
      <vt:lpstr>PowerPoint 演示文稿</vt:lpstr>
      <vt:lpstr>PowerPoint 演示文稿</vt:lpstr>
      <vt:lpstr>What was missing</vt:lpstr>
      <vt:lpstr>PowerPoint 演示文稿</vt:lpstr>
      <vt:lpstr>What is Progressive Web Apps?</vt:lpstr>
      <vt:lpstr>PowerPoint 演示文稿</vt:lpstr>
      <vt:lpstr>What makes an App a PWA</vt:lpstr>
      <vt:lpstr>What are the technical components of PWA</vt:lpstr>
      <vt:lpstr>Service Worker</vt:lpstr>
      <vt:lpstr>HTTPS</vt:lpstr>
      <vt:lpstr>PowerPoint 演示文稿</vt:lpstr>
      <vt:lpstr>The Service Worker life cycle</vt:lpstr>
      <vt:lpstr>Register Service Worker</vt:lpstr>
      <vt:lpstr>Install and Activate Service Worker</vt:lpstr>
      <vt:lpstr>Fetch</vt:lpstr>
      <vt:lpstr>Fetch API</vt:lpstr>
      <vt:lpstr>Add to Home Screen Feature</vt:lpstr>
      <vt:lpstr>Activating the install prompt</vt:lpstr>
      <vt:lpstr>Manifest File</vt:lpstr>
      <vt:lpstr>PowerPoint 演示文稿</vt:lpstr>
      <vt:lpstr>Working Offline using Cache API</vt:lpstr>
      <vt:lpstr>Assignment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Progressive Web App</dc:title>
  <dc:creator>Arwa Osama</dc:creator>
  <cp:lastModifiedBy>Arwa Nour</cp:lastModifiedBy>
  <cp:revision>7</cp:revision>
  <dcterms:created xsi:type="dcterms:W3CDTF">2022-04-04T00:11:00Z</dcterms:created>
  <dcterms:modified xsi:type="dcterms:W3CDTF">2026-05-17T09:22:49Z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0x010100E4A2F666D9004F4DBB544B2BA9CA959F</vt:lpwstr>
  </property>
  <property fmtid="{D5CDD505-2E9C-101B-9397-08002B2CF9AE}" pid="3" name="ICV">
    <vt:lpwstr>9A3D19C95A404A82B22256C421CC3EFE_12</vt:lpwstr>
  </property>
  <property fmtid="{D5CDD505-2E9C-101B-9397-08002B2CF9AE}" pid="4" name="KSOProductBuildVer">
    <vt:lpwstr>1033-12.1.0.26372</vt:lpwstr>
  </property>
</Properties>
</file>